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载人航天专题 | 宇航员在太空中如何生活</a:t>
            </a:r>
          </a:p>
          <a:p>
            <a:r>
              <a:t>从火箭起飞到返回回收，载人航天把人体适应、生命保障、在轨任务和地面支持连接成一条完整链路。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内容框架 | 40 分钟，分成 6 个问题来讲</a:t>
            </a:r>
          </a:p>
          <a:p>
            <a:r>
              <a:t>整场汇报的核心不是罗列知识点，而是用一条完整任务链解释：人类为什么能够安全进入太空、在太空工作，并把人平安带回地球。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任务总览 | 先看全局：一次载人飞行至少要同时解决四件事</a:t>
            </a:r>
          </a:p>
          <a:p>
            <a:r>
              <a:t>如果顺着航天科技集团研制的关键型号链去看，这套任务会更清楚：长征二号F、神舟、空间站舱段、长征七号和天舟，缺一不可。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宇航员选拔 | 宇航员选拔看重的，不是单项最强，而是综合最稳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训练体系 | 真正难的是训练：把尽可能多的问题留在地面解决</a:t>
            </a:r>
          </a:p>
          <a:p>
            <a:r>
              <a:t>训练的目标不是“把动作做对一次”，而是把错误率压到最低，并让人在压力下仍然能保持流程意识。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空间站生活 | 到站后先解决的，不是浪漫感，而是“家”如何稳定运转</a:t>
            </a:r>
          </a:p>
          <a:p>
            <a:r>
              <a:t>空间站的“家居感”来自严密的生命保障与资源管理，而不是地面意义上的舒适装修。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饮食系统 | 吃什么：太空餐并不神秘，但每一口都经过“环境重写”</a:t>
            </a:r>
          </a:p>
          <a:p>
            <a:r>
              <a:t>在地面我们觉得“吃饭”是本能；在太空，吃饭是一套被工程化和流程化的动作系统。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日常细节 | 洗漱、如厕、睡眠都要重新发明</a:t>
            </a:r>
          </a:p>
          <a:p>
            <a:r>
              <a:t>微重力环境会把最平凡的日常变成一个个“小工程问题”。也正因此，太空生活最能说明航天是系统工程。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健康维护 | 每天都要运动，因为失重会悄悄改造身体</a:t>
            </a:r>
          </a:p>
          <a:p>
            <a:r>
              <a:t>运动、营养、作息和医学监测共同构成在轨健康维护闭环，任何一环缺失都会放大失重带来的影响。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人体适应 | 失重带来的，不是轻松，而是另一套生理学</a:t>
            </a:r>
          </a:p>
          <a:p>
            <a:r>
              <a:t>所以“宇航员在太空中如何生活”并不是一个轻松的科普题，而是关于人体、环境和工程如何互相适配的问题。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日程安排 | 宇航员的一天，高度程式化，但每一分钟都很贵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任务执行 | 宇航员在太空里不是“待着”，而是在持续工作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科研价值 | 为什么一些实验非得搬到太空里做</a:t>
            </a:r>
          </a:p>
          <a:p>
            <a:r>
              <a:t>如果把空间站只理解为“住人的地方”，就低估了它。它更像一个把极端环境转化为科研条件的轨道实验平台。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舱外作业 | 最硬核的任务：出舱活动与应急处置</a:t>
            </a:r>
          </a:p>
          <a:p>
            <a:r>
              <a:t>越是高风险环节，越看不见“个人即兴发挥”，看见的更多是训练、制度、流程和团队支持。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返回流程 | 回来为什么也很难：真正的关键在系统协同</a:t>
            </a:r>
          </a:p>
          <a:p>
            <a:r>
              <a:t>返回任务把轨道飞行转换成地面安全着陆，真正考验的是轨道控制、热防护、减速和回收的全过程协同。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再入减速 | 真正的硬仗在再入：高温、姿态控制、减速一环都不能少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返回恢复 | 落地不等于结束：重新适应地球，也是任务的一部分</a:t>
            </a:r>
          </a:p>
          <a:p>
            <a:r>
              <a:t>重新适应地球重力的过程，说明载人航天并不是一次简单往返，而是一场跨环境的人体适应实验。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航天历史 | 航天史的主线，是不断突破“更快、更远、更稳”的能力边界</a:t>
            </a:r>
          </a:p>
          <a:p>
            <a:r>
              <a:t>航天历史真正改变的，不只是飞行高度，而是人类把短时抵达太空逐步发展成长期利用太空的能力。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中国载人航天 | 中国载人航天，正在把“能飞”升级为“长期稳定在轨运行”</a:t>
            </a:r>
          </a:p>
          <a:p>
            <a:r>
              <a:t>如果点一下航天科技集团研制的型号链，可以看到这套能力不是抽象概念，而是由长征二号F、神舟、长征五号系列、长征七号、天舟以及空间站舱段共同支撑起来的。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近期任务 | 把视角拉近：近期中国航天的重点任务，正在同时推进载人、深空、登月与可重复使用方向</a:t>
            </a:r>
          </a:p>
          <a:p>
            <a:r>
              <a:t>如果只看单次发射，会觉得每个任务彼此独立；把时间轴拉近后会发现，中国航天正在同步建设“稳定在轨、走向深空、面向登月、提升发射效率和探索重复使用”这几条能力线。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航天精神 | 载人航天精神，强调的是在极端任务中把难事做成的能力</a:t>
            </a:r>
          </a:p>
          <a:p>
            <a:r>
              <a:t>宇航员在太空中的生活方式，最终反映的不是个人技巧，而是一个任务体系能否长期稳定地支撑人进入太空、利用太空、返回地球。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精神谱系 | 中国航天的发展，也形成了随着任务升级不断延展的精神谱系</a:t>
            </a:r>
          </a:p>
          <a:p>
            <a:r>
              <a:t>精神谱系不是孤立背诵的口号，而是不同时代在面对不同任务时形成的共同价值取向和工作作风。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 | 三点结论</a:t>
            </a:r>
          </a:p>
          <a:p>
            <a:r>
              <a:t>[Sources]</a:t>
            </a:r>
          </a:p>
          <a:p>
            <a:r>
              <a:t>- 宇航员在太空中如何生活.pptx</a:t>
            </a:r>
          </a:p>
          <a:p>
            <a:r>
              <a:t>- 钱航-载人航天工程(公开).ppt</a:t>
            </a:r>
          </a:p>
          <a:p>
            <a:r>
              <a:t>- 探索航天奥秘 弘扬航天精神.pptx</a:t>
            </a:r>
          </a:p>
          <a:p>
            <a:r>
              <a:t>- 中国载人航天工程官网：神舟二十号载人飞船发射取得圆满成功（2025-04-24）</a:t>
            </a:r>
          </a:p>
          <a:p>
            <a:r>
              <a:t>- 中国载人航天工程官网：神舟二十号3名航天员顺利进驻中国空间站（2025-04-25）</a:t>
            </a:r>
          </a:p>
          <a:p>
            <a:r>
              <a:t>- 国家航天局：天问二号探测器发射任务取得圆满成功（2025-05-29）</a:t>
            </a:r>
          </a:p>
          <a:p>
            <a:r>
              <a:t>- 中国航天科技集团：海南商业航天发射场一号工位首次启用并成功发射长八火箭观察记（2025-03-14）</a:t>
            </a:r>
          </a:p>
          <a:p>
            <a:r>
              <a:t>- 中国航天科技集团：我国载人登月火箭成功完成整流罩分离试验（2024-11-22）</a:t>
            </a:r>
          </a:p>
          <a:p>
            <a:r>
              <a:t>- 蓝箭航天：朱雀三号可复用火箭十公里级垂直起降飞行试验任务圆满成功（2024-09-11）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/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Slide Number Placeholder 5"/>
          <p:cNvSpPr/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01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1009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载人航天专题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58400" y="552450"/>
            <a:ext cx="11811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01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42950" y="914400"/>
            <a:ext cx="5657850" cy="4953000"/>
          </a:xfrm>
          <a:prstGeom prst="roundRect">
            <a:avLst>
              <a:gd name="adj" fmla="val 1538"/>
            </a:avLst>
          </a:prstGeom>
          <a:solidFill>
            <a:srgbClr val="0B152B">
              <a:alpha val="98039"/>
            </a:srgbClr>
          </a:solidFill>
          <a:ln w="9525">
            <a:solidFill>
              <a:srgbClr val="1A2E5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47750" y="1409700"/>
            <a:ext cx="4762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4F8FF"/>
                </a:solidFill>
              </a:defRPr>
            </a:pPr>
            <a:r>
              <a:rPr sz="3600" b="1">
                <a:solidFill>
                  <a:srgbClr val="F4F8FF"/>
                </a:solidFill>
              </a:rPr>
              <a:t>宇航员在太空中如何生活</a:t>
            </a:r>
            <a:endParaRPr sz="3600" b="1">
              <a:solidFill>
                <a:srgbClr val="F4F8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66800" y="2990850"/>
            <a:ext cx="45148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E8F1FF"/>
                </a:solidFill>
              </a:defRPr>
            </a:pPr>
            <a:r>
              <a:rPr sz="1500" b="0">
                <a:solidFill>
                  <a:srgbClr val="E8F1FF"/>
                </a:solidFill>
              </a:rPr>
              <a:t>从一次载人发射出发，沿着“送上去、住下来、做任务、平安回来”四条主线，理解太空生活到底是怎样被设计出来的。</a:t>
            </a:r>
            <a:endParaRPr sz="1500" b="0">
              <a:solidFill>
                <a:srgbClr val="E8F1FF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066800" y="40957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1A243B"/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238250" y="41624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F"/>
                </a:solidFill>
              </a:defRPr>
            </a:pPr>
            <a:r>
              <a:rPr sz="975" b="1">
                <a:solidFill>
                  <a:srgbClr val="F4F8FF"/>
                </a:solidFill>
              </a:rPr>
              <a:t>载人飞船</a:t>
            </a:r>
            <a:endParaRPr sz="975" b="1">
              <a:solidFill>
                <a:srgbClr val="F4F8FF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2171700" y="40957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1A243B"/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343150" y="41624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F"/>
                </a:solidFill>
              </a:defRPr>
            </a:pPr>
            <a:r>
              <a:rPr sz="975" b="1">
                <a:solidFill>
                  <a:srgbClr val="F4F8FF"/>
                </a:solidFill>
              </a:rPr>
              <a:t>空间站</a:t>
            </a:r>
            <a:endParaRPr sz="975" b="1">
              <a:solidFill>
                <a:srgbClr val="F4F8FF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3105150" y="40957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1A243B"/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276600" y="41624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F"/>
                </a:solidFill>
              </a:defRPr>
            </a:pPr>
            <a:r>
              <a:rPr sz="975" b="1">
                <a:solidFill>
                  <a:srgbClr val="F4F8FF"/>
                </a:solidFill>
              </a:rPr>
              <a:t>微重力</a:t>
            </a:r>
            <a:endParaRPr sz="975" b="1">
              <a:solidFill>
                <a:srgbClr val="F4F8FF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4038600" y="40957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1A243B"/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210050" y="41624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F"/>
                </a:solidFill>
              </a:defRPr>
            </a:pPr>
            <a:r>
              <a:rPr sz="975" b="1">
                <a:solidFill>
                  <a:srgbClr val="F4F8FF"/>
                </a:solidFill>
              </a:rPr>
              <a:t>生命保障</a:t>
            </a:r>
            <a:endParaRPr sz="975" b="1">
              <a:solidFill>
                <a:srgbClr val="F4F8FF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5143500" y="40957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1A243B"/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314950" y="41624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F"/>
                </a:solidFill>
              </a:defRPr>
            </a:pPr>
            <a:r>
              <a:rPr sz="975" b="1">
                <a:solidFill>
                  <a:srgbClr val="F4F8FF"/>
                </a:solidFill>
              </a:rPr>
              <a:t>返回地球</a:t>
            </a:r>
            <a:endParaRPr sz="975" b="1">
              <a:solidFill>
                <a:srgbClr val="F4F8FF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1066800" y="4762500"/>
            <a:ext cx="4514850" cy="704850"/>
          </a:xfrm>
          <a:prstGeom prst="roundRect">
            <a:avLst>
              <a:gd name="adj" fmla="val 10811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238250" y="4876800"/>
            <a:ext cx="417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从火箭起飞到返回回收，载人航天把人体适应、生命保障、在轨任务和地面支持连接成一条完整链路。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572250" y="914400"/>
            <a:ext cx="4476750" cy="1866900"/>
          </a:xfrm>
          <a:prstGeom prst="roundRect">
            <a:avLst>
              <a:gd name="adj" fmla="val 4082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rcRect t="23995" b="23995"/>
          <a:stretch>
            <a:fillRect/>
          </a:stretch>
        </p:blipFill>
        <p:spPr>
          <a:xfrm>
            <a:off x="6667500" y="1009650"/>
            <a:ext cx="4286250" cy="1676400"/>
          </a:xfrm>
          <a:prstGeom prst="rect">
            <a:avLst/>
          </a:prstGeom>
        </p:spPr>
      </p:pic>
      <p:sp>
        <p:nvSpPr>
          <p:cNvPr id="44" name="圆角矩形 43"/>
          <p:cNvSpPr>
            <a:spLocks noGrp="1"/>
          </p:cNvSpPr>
          <p:nvPr/>
        </p:nvSpPr>
        <p:spPr>
          <a:xfrm>
            <a:off x="6572250" y="2876550"/>
            <a:ext cx="4476750" cy="400050"/>
          </a:xfrm>
          <a:prstGeom prst="roundRect">
            <a:avLst>
              <a:gd name="adj" fmla="val 19048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24650" y="2990850"/>
            <a:ext cx="417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173"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把人稳定送入轨道、送进空间站并安全返回，才是中国载人航天日常运行中最硬的系统工程。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572250" y="3467100"/>
            <a:ext cx="2114550" cy="2381250"/>
          </a:xfrm>
          <a:prstGeom prst="roundRect">
            <a:avLst>
              <a:gd name="adj" fmla="val 3604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743700" y="3638550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核心提醒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743700" y="4038600"/>
            <a:ext cx="17716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太空生活的本质，不是浪漫漂浮，而是把日常的“吃住行和健康”全部重做一遍。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839200" y="3467100"/>
            <a:ext cx="2209800" cy="1866900"/>
          </a:xfrm>
          <a:prstGeom prst="roundRect">
            <a:avLst>
              <a:gd name="adj" fmla="val 4082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3673916"/>
            <a:ext cx="1981200" cy="1453268"/>
          </a:xfrm>
          <a:prstGeom prst="rect">
            <a:avLst/>
          </a:prstGeom>
        </p:spPr>
      </p:pic>
      <p:sp>
        <p:nvSpPr>
          <p:cNvPr id="51" name="圆角矩形 50"/>
          <p:cNvSpPr>
            <a:spLocks noGrp="1"/>
          </p:cNvSpPr>
          <p:nvPr/>
        </p:nvSpPr>
        <p:spPr>
          <a:xfrm>
            <a:off x="8839200" y="5429250"/>
            <a:ext cx="2209800" cy="400050"/>
          </a:xfrm>
          <a:prstGeom prst="roundRect">
            <a:avLst>
              <a:gd name="adj" fmla="val 19048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991600" y="55435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5618"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内容主线：任务起点 → 训练准备 → 在轨生活 → 返回恢复 → 历史与精神。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02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内容框架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六个问题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02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F4F8FF"/>
                </a:solidFill>
              </a:defRPr>
            </a:pPr>
            <a:r>
              <a:rPr sz="2700" b="1">
                <a:solidFill>
                  <a:srgbClr val="F4F8FF"/>
                </a:solidFill>
              </a:rPr>
              <a:t>分成 6 个问题来讲</a:t>
            </a:r>
            <a:endParaRPr sz="2700" b="1">
              <a:solidFill>
                <a:srgbClr val="F4F8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19621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D0DCF0"/>
                </a:solidFill>
              </a:defRPr>
            </a:pPr>
            <a:r>
              <a:rPr sz="1125" b="0">
                <a:solidFill>
                  <a:srgbClr val="D0DCF0"/>
                </a:solidFill>
              </a:rPr>
              <a:t>载人航天不是“飞上去”那么简单，而是一整套极端环境中的系统工程。把任务拆开之后，可以看到它同时涉及历史积累、工程能力、人体适应和团队协同。</a:t>
            </a:r>
            <a:endParaRPr sz="1125" b="0">
              <a:solidFill>
                <a:srgbClr val="D0DCF0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42950" y="2419350"/>
            <a:ext cx="3467100" cy="1238250"/>
          </a:xfrm>
          <a:prstGeom prst="roundRect">
            <a:avLst>
              <a:gd name="adj" fmla="val 615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933450" y="2590800"/>
            <a:ext cx="400050" cy="400050"/>
          </a:xfrm>
          <a:prstGeom prst="ellipse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33450" y="268605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A1630"/>
                </a:solidFill>
              </a:defRPr>
            </a:pPr>
            <a:r>
              <a:rPr sz="1200" b="1">
                <a:solidFill>
                  <a:srgbClr val="0A1630"/>
                </a:solidFill>
              </a:rPr>
              <a:t>01</a:t>
            </a:r>
            <a:endParaRPr sz="1200" b="1">
              <a:solidFill>
                <a:srgbClr val="0A163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466850" y="2609850"/>
            <a:ext cx="2552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先把人安全送上去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33450" y="3162300"/>
            <a:ext cx="3086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火箭、飞船、逃逸系统和地面支持，决定了任务能不能开始。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4362450" y="2419350"/>
            <a:ext cx="3467100" cy="1238250"/>
          </a:xfrm>
          <a:prstGeom prst="roundRect">
            <a:avLst>
              <a:gd name="adj" fmla="val 615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4552950" y="2590800"/>
            <a:ext cx="400050" cy="400050"/>
          </a:xfrm>
          <a:prstGeom prst="ellipse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552950" y="268605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A1630"/>
                </a:solidFill>
              </a:defRPr>
            </a:pPr>
            <a:r>
              <a:rPr sz="1200" b="1">
                <a:solidFill>
                  <a:srgbClr val="0A1630"/>
                </a:solidFill>
              </a:rPr>
              <a:t>02</a:t>
            </a:r>
            <a:endParaRPr sz="1200" b="1">
              <a:solidFill>
                <a:srgbClr val="0A1630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086350" y="2609850"/>
            <a:ext cx="2552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814"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为什么要经过高强度选拔与训练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552950" y="3162300"/>
            <a:ext cx="3086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上天前必须把风险尽可能消灭在地面，把动作练成条件反射。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981950" y="2419350"/>
            <a:ext cx="3467100" cy="1238250"/>
          </a:xfrm>
          <a:prstGeom prst="roundRect">
            <a:avLst>
              <a:gd name="adj" fmla="val 615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0" name="椭圆 39"/>
          <p:cNvSpPr>
            <a:spLocks noGrp="1"/>
          </p:cNvSpPr>
          <p:nvPr/>
        </p:nvSpPr>
        <p:spPr>
          <a:xfrm>
            <a:off x="8172450" y="2590800"/>
            <a:ext cx="400050" cy="400050"/>
          </a:xfrm>
          <a:prstGeom prst="ellipse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72450" y="268605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A1630"/>
                </a:solidFill>
              </a:defRPr>
            </a:pPr>
            <a:r>
              <a:rPr sz="1200" b="1">
                <a:solidFill>
                  <a:srgbClr val="0A1630"/>
                </a:solidFill>
              </a:rPr>
              <a:t>03</a:t>
            </a:r>
            <a:endParaRPr sz="1200" b="1">
              <a:solidFill>
                <a:srgbClr val="0A1630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705850" y="2609850"/>
            <a:ext cx="2552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814"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在轨“衣食住行”如何重新设计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172450" y="3162300"/>
            <a:ext cx="3086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吃饭、喝水、睡觉、如厕、锻炼，在微重力下都不再是地面版本。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742950" y="3810000"/>
            <a:ext cx="3467100" cy="1238250"/>
          </a:xfrm>
          <a:prstGeom prst="roundRect">
            <a:avLst>
              <a:gd name="adj" fmla="val 615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5" name="椭圆 44"/>
          <p:cNvSpPr>
            <a:spLocks noGrp="1"/>
          </p:cNvSpPr>
          <p:nvPr/>
        </p:nvSpPr>
        <p:spPr>
          <a:xfrm>
            <a:off x="933450" y="3981450"/>
            <a:ext cx="400050" cy="400050"/>
          </a:xfrm>
          <a:prstGeom prst="ellipse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33450" y="407670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A1630"/>
                </a:solidFill>
              </a:defRPr>
            </a:pPr>
            <a:r>
              <a:rPr sz="1200" b="1">
                <a:solidFill>
                  <a:srgbClr val="0A1630"/>
                </a:solidFill>
              </a:rPr>
              <a:t>04</a:t>
            </a:r>
            <a:endParaRPr sz="1200" b="1">
              <a:solidFill>
                <a:srgbClr val="0A1630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466850" y="4000500"/>
            <a:ext cx="2552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宇航员在太空里究竟忙什么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33450" y="4552950"/>
            <a:ext cx="3086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科学实验、站务维护、出舱准备、天地协同，决定这趟飞行的价值。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4362450" y="3810000"/>
            <a:ext cx="3467100" cy="1238250"/>
          </a:xfrm>
          <a:prstGeom prst="roundRect">
            <a:avLst>
              <a:gd name="adj" fmla="val 615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4552950" y="3981450"/>
            <a:ext cx="400050" cy="400050"/>
          </a:xfrm>
          <a:prstGeom prst="ellipse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552950" y="407670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A1630"/>
                </a:solidFill>
              </a:defRPr>
            </a:pPr>
            <a:r>
              <a:rPr sz="1200" b="1">
                <a:solidFill>
                  <a:srgbClr val="0A1630"/>
                </a:solidFill>
              </a:rPr>
              <a:t>05</a:t>
            </a:r>
            <a:endParaRPr sz="1200" b="1">
              <a:solidFill>
                <a:srgbClr val="0A1630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086350" y="4000500"/>
            <a:ext cx="2552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回来为什么也很难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4552950" y="4552950"/>
            <a:ext cx="3086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再入大气层、开伞减速、着陆回收，以及重新适应地球重力。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7981950" y="3810000"/>
            <a:ext cx="3467100" cy="1238250"/>
          </a:xfrm>
          <a:prstGeom prst="roundRect">
            <a:avLst>
              <a:gd name="adj" fmla="val 615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8172450" y="3981450"/>
            <a:ext cx="400050" cy="400050"/>
          </a:xfrm>
          <a:prstGeom prst="ellipse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72450" y="407670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A1630"/>
                </a:solidFill>
              </a:defRPr>
            </a:pPr>
            <a:r>
              <a:rPr sz="1200" b="1">
                <a:solidFill>
                  <a:srgbClr val="0A1630"/>
                </a:solidFill>
              </a:rPr>
              <a:t>06</a:t>
            </a:r>
            <a:endParaRPr sz="1200" b="1">
              <a:solidFill>
                <a:srgbClr val="0A1630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705850" y="4000500"/>
            <a:ext cx="2552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航天历史与精神谱系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172450" y="4552950"/>
            <a:ext cx="3086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从火箭起源到空间站时代，再到航天精神的形成，看到这条道路如何延展。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742950" y="5410200"/>
            <a:ext cx="10706100" cy="704850"/>
          </a:xfrm>
          <a:prstGeom prst="roundRect">
            <a:avLst>
              <a:gd name="adj" fmla="val 10811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14400" y="5524500"/>
            <a:ext cx="10363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整场汇报的核心不是罗列知识点，而是用一条完整任务链解释：人类为什么能够安全进入太空、在太空工作，并把人平安带回地球。</a:t>
            </a:r>
            <a:endParaRPr sz="1050" b="0">
              <a:solidFill>
                <a:srgbClr val="F3F7F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03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任务总览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四大环节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03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857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先看全局：一次载人飞行至少要同时解决四件事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381250"/>
            <a:ext cx="4857750" cy="652463"/>
          </a:xfrm>
          <a:prstGeom prst="roundRect">
            <a:avLst>
              <a:gd name="adj" fmla="val 11679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914400" y="2552700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2609850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90650" y="2514600"/>
            <a:ext cx="401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安全送入轨道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390650" y="2762250"/>
            <a:ext cx="40195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54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长征二号F运载火箭与神舟飞船共同完成送人入轨。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42950" y="3148013"/>
            <a:ext cx="4857750" cy="652463"/>
          </a:xfrm>
          <a:prstGeom prst="roundRect">
            <a:avLst>
              <a:gd name="adj" fmla="val 11679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914400" y="3319463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14400" y="3376613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390650" y="3281363"/>
            <a:ext cx="401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让人在轨生存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390650" y="3529013"/>
            <a:ext cx="40195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54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天和核心舱、问天实验舱、梦天实验舱共同构成长期驻留平台。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42950" y="3914775"/>
            <a:ext cx="4857750" cy="652463"/>
          </a:xfrm>
          <a:prstGeom prst="roundRect">
            <a:avLst>
              <a:gd name="adj" fmla="val 11679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椭圆 38"/>
          <p:cNvSpPr>
            <a:spLocks noGrp="1"/>
          </p:cNvSpPr>
          <p:nvPr/>
        </p:nvSpPr>
        <p:spPr>
          <a:xfrm>
            <a:off x="914400" y="4086225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14400" y="4143375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390650" y="4048125"/>
            <a:ext cx="401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支持持续工作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390650" y="4295775"/>
            <a:ext cx="40195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54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长征七号配合天舟货运飞船，让补给、推进剂和物资循环不断档。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42950" y="4681538"/>
            <a:ext cx="4857750" cy="652463"/>
          </a:xfrm>
          <a:prstGeom prst="roundRect">
            <a:avLst>
              <a:gd name="adj" fmla="val 11679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914400" y="4852988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14400" y="4910138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390650" y="4814888"/>
            <a:ext cx="401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把人平安带回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390650" y="5062538"/>
            <a:ext cx="40195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54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神舟飞船返回舱承担再入、防热、减速与着陆回收。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42950" y="5524500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14400" y="5638800"/>
            <a:ext cx="4514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如果顺着航天科技集团研制的关键型号链去看，这套任务会更清楚：长征二号F、神舟、空间站舱段、长征七号和天舟，缺一不可。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096000" y="1466850"/>
            <a:ext cx="4953000" cy="3848100"/>
          </a:xfrm>
          <a:prstGeom prst="roundRect">
            <a:avLst>
              <a:gd name="adj" fmla="val 198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1648666"/>
            <a:ext cx="4648200" cy="3484468"/>
          </a:xfrm>
          <a:prstGeom prst="rect">
            <a:avLst/>
          </a:prstGeom>
        </p:spPr>
      </p:pic>
      <p:sp>
        <p:nvSpPr>
          <p:cNvPr id="52" name="圆角矩形 51"/>
          <p:cNvSpPr>
            <a:spLocks noGrp="1"/>
          </p:cNvSpPr>
          <p:nvPr/>
        </p:nvSpPr>
        <p:spPr>
          <a:xfrm>
            <a:off x="6096000" y="5410200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248400" y="5524500"/>
            <a:ext cx="4648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飞船不是一个“太空胶囊”那么简单。推进舱、返回舱、轨道舱各自承担能源、控制、居住和返回职责，真正让“人”变成可以在轨工作的人。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04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811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宇航员选拔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综合素质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04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0" y="1143000"/>
            <a:ext cx="4953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宇航员选拔看重的，不是单项最强，而是综合最稳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096000" y="2286000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096000" y="2286000"/>
            <a:ext cx="2409825" cy="47625"/>
          </a:xfrm>
          <a:prstGeom prst="rect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67450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专业背景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67450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工程、飞行、医学、科研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67450" y="3314700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58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宇航员要理解设备、看懂流程、执行实验，专业基础决定理解上限。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639175" y="2286000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639175" y="2286000"/>
            <a:ext cx="2409825" cy="47625"/>
          </a:xfrm>
          <a:prstGeom prst="rect">
            <a:avLst/>
          </a:prstGeom>
          <a:solidFill>
            <a:srgbClr val="75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810625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身体条件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810625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抗加速度、抗失重、抗封闭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810625" y="3314700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58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火箭发射、长期在轨、再入着陆，对心肺、前庭和平衡系统都有挑战。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096000" y="3781425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096000" y="3781425"/>
            <a:ext cx="2409825" cy="47625"/>
          </a:xfrm>
          <a:prstGeom prst="rect">
            <a:avLst/>
          </a:prstGeom>
          <a:solidFill>
            <a:srgbClr val="FF7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267450" y="391477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心理素质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267450" y="416242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稳定、冷静、可长期协作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267450" y="4810125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58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密闭空间里最怕情绪失控，真正重要的是能不能在压力下持续稳定工作。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8639175" y="3781425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639175" y="3781425"/>
            <a:ext cx="2409825" cy="47625"/>
          </a:xfrm>
          <a:prstGeom prst="rect">
            <a:avLst/>
          </a:prstGeom>
          <a:solidFill>
            <a:srgbClr val="8FE2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810625" y="391477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团队协同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810625" y="416242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服从流程，也能互相补位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810625" y="4810125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58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在轨任务没有“单打独斗”，每一次操作都需要与同伴和地面形成闭环。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42950" y="1466850"/>
            <a:ext cx="4953000" cy="3752850"/>
          </a:xfrm>
          <a:prstGeom prst="roundRect">
            <a:avLst>
              <a:gd name="adj" fmla="val 203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rcRect t="266" b="266"/>
          <a:stretch>
            <a:fillRect/>
          </a:stretch>
        </p:blipFill>
        <p:spPr>
          <a:xfrm>
            <a:off x="838200" y="1562100"/>
            <a:ext cx="4762500" cy="3562350"/>
          </a:xfrm>
          <a:prstGeom prst="rect">
            <a:avLst/>
          </a:prstGeom>
        </p:spPr>
      </p:pic>
      <p:sp>
        <p:nvSpPr>
          <p:cNvPr id="50" name="圆角矩形 49"/>
          <p:cNvSpPr>
            <a:spLocks noGrp="1"/>
          </p:cNvSpPr>
          <p:nvPr/>
        </p:nvSpPr>
        <p:spPr>
          <a:xfrm>
            <a:off x="742950" y="5314950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95350" y="5429250"/>
            <a:ext cx="4648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选拔的终点不是“能不能飞”，而是“飞上去之后能不能稳定完成任务”。今天中国空间站进入常态化运营后，这种能力要求只会更系统、更严格。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05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训练体系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地面验证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05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57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真正难的是训练：把尽可能多的问题留在地面解决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247900"/>
            <a:ext cx="4572000" cy="647700"/>
          </a:xfrm>
          <a:prstGeom prst="roundRect">
            <a:avLst>
              <a:gd name="adj" fmla="val 11765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914400" y="2419350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2476500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90650" y="2381250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舱外服与设备训练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390650" y="2628900"/>
            <a:ext cx="3733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623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宇航员不仅要会穿、会用，还要把每一个动作练到“几乎不用思考”。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42950" y="3009900"/>
            <a:ext cx="4572000" cy="647700"/>
          </a:xfrm>
          <a:prstGeom prst="roundRect">
            <a:avLst>
              <a:gd name="adj" fmla="val 11765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914400" y="3181350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14400" y="3238500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390650" y="3143250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座椅与发射适应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390650" y="3390900"/>
            <a:ext cx="3733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623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发射和返回都伴随强加速度，姿态、呼吸和操作要提前适应。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42950" y="3771900"/>
            <a:ext cx="4572000" cy="647700"/>
          </a:xfrm>
          <a:prstGeom prst="roundRect">
            <a:avLst>
              <a:gd name="adj" fmla="val 11765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椭圆 38"/>
          <p:cNvSpPr>
            <a:spLocks noGrp="1"/>
          </p:cNvSpPr>
          <p:nvPr/>
        </p:nvSpPr>
        <p:spPr>
          <a:xfrm>
            <a:off x="914400" y="3943350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14400" y="4000500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390650" y="3905250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失重环境熟悉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390650" y="4152900"/>
            <a:ext cx="3733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623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真正上站前，必须先理解身体和物体在失重中的反应方式。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42950" y="4533900"/>
            <a:ext cx="4572000" cy="647700"/>
          </a:xfrm>
          <a:prstGeom prst="roundRect">
            <a:avLst>
              <a:gd name="adj" fmla="val 11765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914400" y="4705350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14400" y="4762500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390650" y="4667250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应急预案演练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390650" y="4914900"/>
            <a:ext cx="3733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623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火灾、失压、设备故障、医疗急救，都要先练成流程再上天。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42950" y="5410200"/>
            <a:ext cx="4572000" cy="609600"/>
          </a:xfrm>
          <a:prstGeom prst="roundRect">
            <a:avLst>
              <a:gd name="adj" fmla="val 12500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14400" y="5524500"/>
            <a:ext cx="422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训练的目标不是“把动作做对一次”，而是把错误率压到最低，并让人在压力下仍然能保持流程意识。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5676900" y="1657350"/>
            <a:ext cx="1885950" cy="3390900"/>
          </a:xfrm>
          <a:prstGeom prst="roundRect">
            <a:avLst>
              <a:gd name="adj" fmla="val 404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0" y="2886670"/>
            <a:ext cx="1657350" cy="932259"/>
          </a:xfrm>
          <a:prstGeom prst="rect">
            <a:avLst/>
          </a:prstGeom>
        </p:spPr>
      </p:pic>
      <p:sp>
        <p:nvSpPr>
          <p:cNvPr id="52" name="圆角矩形 51"/>
          <p:cNvSpPr>
            <a:spLocks noGrp="1"/>
          </p:cNvSpPr>
          <p:nvPr/>
        </p:nvSpPr>
        <p:spPr>
          <a:xfrm>
            <a:off x="5676900" y="5143500"/>
            <a:ext cx="1885950" cy="704850"/>
          </a:xfrm>
          <a:prstGeom prst="roundRect">
            <a:avLst>
              <a:gd name="adj" fmla="val 10811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5829300" y="5257800"/>
            <a:ext cx="1581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飞行前训练不只是体能准备，还包括航天服、座舱约束和系统理解。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7696200" y="1657350"/>
            <a:ext cx="1885950" cy="3390900"/>
          </a:xfrm>
          <a:prstGeom prst="roundRect">
            <a:avLst>
              <a:gd name="adj" fmla="val 404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2886670"/>
            <a:ext cx="1657350" cy="932259"/>
          </a:xfrm>
          <a:prstGeom prst="rect">
            <a:avLst/>
          </a:prstGeom>
        </p:spPr>
      </p:pic>
      <p:sp>
        <p:nvSpPr>
          <p:cNvPr id="56" name="圆角矩形 55"/>
          <p:cNvSpPr>
            <a:spLocks noGrp="1"/>
          </p:cNvSpPr>
          <p:nvPr/>
        </p:nvSpPr>
        <p:spPr>
          <a:xfrm>
            <a:off x="7696200" y="5143500"/>
            <a:ext cx="1885950" cy="704850"/>
          </a:xfrm>
          <a:prstGeom prst="roundRect">
            <a:avLst>
              <a:gd name="adj" fmla="val 10811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848600" y="5257800"/>
            <a:ext cx="1581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发射段的安全底线之一，是把逃逸、故障处置和程序响应提前练成闭环。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715500" y="1657350"/>
            <a:ext cx="1885950" cy="3390900"/>
          </a:xfrm>
          <a:prstGeom prst="roundRect">
            <a:avLst>
              <a:gd name="adj" fmla="val 404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886670"/>
            <a:ext cx="1657350" cy="932259"/>
          </a:xfrm>
          <a:prstGeom prst="rect">
            <a:avLst/>
          </a:prstGeom>
        </p:spPr>
      </p:pic>
      <p:sp>
        <p:nvSpPr>
          <p:cNvPr id="60" name="圆角矩形 59"/>
          <p:cNvSpPr>
            <a:spLocks noGrp="1"/>
          </p:cNvSpPr>
          <p:nvPr/>
        </p:nvSpPr>
        <p:spPr>
          <a:xfrm>
            <a:off x="9715500" y="5143500"/>
            <a:ext cx="1885950" cy="704850"/>
          </a:xfrm>
          <a:prstGeom prst="roundRect">
            <a:avLst>
              <a:gd name="adj" fmla="val 10811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9867900" y="5257800"/>
            <a:ext cx="1581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211"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训练的终点不是单项动作，而是把整条飞行链上的关键阶段都练到可执行、可复核。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06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811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空间站生活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生命保障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06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953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F4F8FF"/>
                </a:solidFill>
              </a:defRPr>
            </a:pPr>
            <a:r>
              <a:rPr sz="2400" b="1">
                <a:solidFill>
                  <a:srgbClr val="F4F8FF"/>
                </a:solidFill>
              </a:rPr>
              <a:t>到站后先解决的，不是浪漫感，而是“家”如何稳定运转</a:t>
            </a:r>
            <a:endParaRPr sz="240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324100"/>
            <a:ext cx="49530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33450" y="2457450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居住区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33450" y="2686050"/>
            <a:ext cx="45720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睡袋、个人物品、私密空间都要重新定义，因为“墙”和“天花板”在失重中没有固定意义。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42950" y="3052763"/>
            <a:ext cx="49530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33450" y="3186113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工作区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33450" y="3414713"/>
            <a:ext cx="45720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电脑、实验机柜、操作台和工具都必须可固定、可回收、可快速切换任务。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42950" y="3781425"/>
            <a:ext cx="49530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33450" y="3914775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运动区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33450" y="4143375"/>
            <a:ext cx="45720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跑步机、自行车和抗阻装置不是福利，而是日常健康维护的核心设备。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42950" y="4510088"/>
            <a:ext cx="49530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33450" y="4643438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医疗与应急区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3450" y="4872038"/>
            <a:ext cx="45720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药品、监测设备、应急预案必须随时可用，不能等到出问题再找。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42950" y="5334000"/>
            <a:ext cx="4953000" cy="647700"/>
          </a:xfrm>
          <a:prstGeom prst="roundRect">
            <a:avLst>
              <a:gd name="adj" fmla="val 11765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5448300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空间站的“家居感”来自严密的生命保障与资源管理，而不是地面意义上的舒适装修。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096000" y="146685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rcRect t="21841" b="21841"/>
          <a:stretch>
            <a:fillRect/>
          </a:stretch>
        </p:blipFill>
        <p:spPr>
          <a:xfrm>
            <a:off x="6191250" y="1562100"/>
            <a:ext cx="4762500" cy="1485900"/>
          </a:xfrm>
          <a:prstGeom prst="rect">
            <a:avLst/>
          </a:prstGeom>
        </p:spPr>
      </p:pic>
      <p:sp>
        <p:nvSpPr>
          <p:cNvPr id="44" name="圆角矩形 43"/>
          <p:cNvSpPr>
            <a:spLocks noGrp="1"/>
          </p:cNvSpPr>
          <p:nvPr/>
        </p:nvSpPr>
        <p:spPr>
          <a:xfrm>
            <a:off x="6096000" y="3238500"/>
            <a:ext cx="4953000" cy="457200"/>
          </a:xfrm>
          <a:prstGeom prst="roundRect">
            <a:avLst>
              <a:gd name="adj" fmla="val 16667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248400" y="33528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23"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神舟二十号乘组进驻空间站的舱内画面，更直观地展示了在轨工作与生活环境的组织方式。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096000" y="3867150"/>
            <a:ext cx="4953000" cy="1504950"/>
          </a:xfrm>
          <a:prstGeom prst="roundRect">
            <a:avLst>
              <a:gd name="adj" fmla="val 5063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rcRect t="36283" b="36283"/>
          <a:stretch>
            <a:fillRect/>
          </a:stretch>
        </p:blipFill>
        <p:spPr>
          <a:xfrm>
            <a:off x="6191250" y="3962400"/>
            <a:ext cx="4762500" cy="1314450"/>
          </a:xfrm>
          <a:prstGeom prst="rect">
            <a:avLst/>
          </a:prstGeom>
        </p:spPr>
      </p:pic>
      <p:sp>
        <p:nvSpPr>
          <p:cNvPr id="48" name="圆角矩形 47"/>
          <p:cNvSpPr>
            <a:spLocks noGrp="1"/>
          </p:cNvSpPr>
          <p:nvPr/>
        </p:nvSpPr>
        <p:spPr>
          <a:xfrm>
            <a:off x="6096000" y="5467350"/>
            <a:ext cx="4953000" cy="495300"/>
          </a:xfrm>
          <a:prstGeom prst="roundRect">
            <a:avLst>
              <a:gd name="adj" fmla="val 1538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248400" y="5581650"/>
            <a:ext cx="464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从天和核心舱到问天、梦天，长期驻留所需的工作区、生活区和生命保障能力是整体设计出来的。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07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饮食系统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58400" y="552450"/>
            <a:ext cx="11811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29850" y="6191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补给与营养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07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953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吃什么：太空餐并不神秘，但每一口都经过“环境重写”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286000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2286000"/>
            <a:ext cx="2409825" cy="47625"/>
          </a:xfrm>
          <a:prstGeom prst="rect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复水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14400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食物要便于加水恢复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3314700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69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因为在轨储运和处理空间有限，复水食品比“现场烹饪”更可控。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286125" y="2286000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286125" y="2286000"/>
            <a:ext cx="2409825" cy="47625"/>
          </a:xfrm>
          <a:prstGeom prst="rect">
            <a:avLst/>
          </a:prstGeom>
          <a:solidFill>
            <a:srgbClr val="75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457575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加热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457575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流程简单、步骤固定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457575" y="3314700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7411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宇航员不是厨师，太空餐的设计重点是快速、安全、少失误。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42950" y="3781425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42950" y="3781425"/>
            <a:ext cx="2409825" cy="47625"/>
          </a:xfrm>
          <a:prstGeom prst="rect">
            <a:avLst/>
          </a:prstGeom>
          <a:solidFill>
            <a:srgbClr val="FF7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14400" y="391477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营养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416242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长期任务必须讲均衡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14400" y="4810125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58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高强度任务和失重环境下，能量、蛋白质、微量元素都不能随意波动。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3286125" y="3781425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286125" y="3781425"/>
            <a:ext cx="2409825" cy="47625"/>
          </a:xfrm>
          <a:prstGeom prst="rect">
            <a:avLst/>
          </a:prstGeom>
          <a:solidFill>
            <a:srgbClr val="8FE2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457575" y="391477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情绪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457575" y="416242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食物也是心理支持的一部分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457575" y="4810125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4625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任务周期越长，食物的口味、熟悉感和仪式感越重要。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42950" y="5334000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14400" y="5448300"/>
            <a:ext cx="4610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在地面我们觉得“吃饭”是本能；在太空，吃饭是一套被工程化和流程化的动作系统。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096000" y="1466850"/>
            <a:ext cx="4953000" cy="3752850"/>
          </a:xfrm>
          <a:prstGeom prst="roundRect">
            <a:avLst>
              <a:gd name="adj" fmla="val 203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6803" y="1619250"/>
            <a:ext cx="3271395" cy="3448050"/>
          </a:xfrm>
          <a:prstGeom prst="rect">
            <a:avLst/>
          </a:prstGeom>
        </p:spPr>
      </p:pic>
      <p:sp>
        <p:nvSpPr>
          <p:cNvPr id="52" name="圆角矩形 51"/>
          <p:cNvSpPr>
            <a:spLocks noGrp="1"/>
          </p:cNvSpPr>
          <p:nvPr/>
        </p:nvSpPr>
        <p:spPr>
          <a:xfrm>
            <a:off x="6096000" y="5314950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248400" y="5429250"/>
            <a:ext cx="4648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太空餐首先要解决安全，再去追求丰富。不能掉渣、不能乱漂、便于复水加热、利于长期保存，都是设计前提。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08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日常细节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洗漱睡眠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08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762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洗漱、如厕、睡眠都要重新发明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324100"/>
            <a:ext cx="47625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33450" y="2457450"/>
            <a:ext cx="438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洗漱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33450" y="2686050"/>
            <a:ext cx="43815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用水量受限，动作要防止液滴漂浮，很多步骤要借助纸巾、湿巾和专门容器完成。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42950" y="3052763"/>
            <a:ext cx="47625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33450" y="3186113"/>
            <a:ext cx="438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如厕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33450" y="3414713"/>
            <a:ext cx="43815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依赖气流导向和收集系统，而不是地面靠重力的自然下落逻辑。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42950" y="3781425"/>
            <a:ext cx="47625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33450" y="3914775"/>
            <a:ext cx="438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睡眠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33450" y="4143375"/>
            <a:ext cx="43815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睡袋固定在舱壁，重点不是“躺平”，而是防止身体无控制漂移和碰撞。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42950" y="4510088"/>
            <a:ext cx="47625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33450" y="4643438"/>
            <a:ext cx="438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节律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3450" y="4872038"/>
            <a:ext cx="43815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航天员需要依靠灯光、任务安排和天地协同保持稳定作息，不能让生物钟散掉。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42950" y="5334000"/>
            <a:ext cx="4762500" cy="647700"/>
          </a:xfrm>
          <a:prstGeom prst="roundRect">
            <a:avLst>
              <a:gd name="adj" fmla="val 11765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5448300"/>
            <a:ext cx="4419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微重力环境会把最平凡的日常变成一个个“小工程问题”。也正因此，太空生活最能说明航天是系统工程。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5943600" y="1466850"/>
            <a:ext cx="5105400" cy="3752850"/>
          </a:xfrm>
          <a:prstGeom prst="roundRect">
            <a:avLst>
              <a:gd name="adj" fmla="val 203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88" y="1638300"/>
            <a:ext cx="2774824" cy="3409950"/>
          </a:xfrm>
          <a:prstGeom prst="rect">
            <a:avLst/>
          </a:prstGeom>
        </p:spPr>
      </p:pic>
      <p:sp>
        <p:nvSpPr>
          <p:cNvPr id="44" name="圆角矩形 43"/>
          <p:cNvSpPr>
            <a:spLocks noGrp="1"/>
          </p:cNvSpPr>
          <p:nvPr/>
        </p:nvSpPr>
        <p:spPr>
          <a:xfrm>
            <a:off x="5943600" y="5314950"/>
            <a:ext cx="5105400" cy="647700"/>
          </a:xfrm>
          <a:prstGeom prst="roundRect">
            <a:avLst>
              <a:gd name="adj" fmla="val 1176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096000" y="5429250"/>
            <a:ext cx="4800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如厕系统最能说明太空生活的工程化特征。在地面依赖重力完成的动作，在轨道上要靠气流、结构和流程共同接管。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09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健康维护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在轨锻炼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09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685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每天都要运动，因为失重会悄悄改造身体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266950"/>
            <a:ext cx="3638550" cy="3429000"/>
          </a:xfrm>
          <a:prstGeom prst="roundRect">
            <a:avLst>
              <a:gd name="adj" fmla="val 2222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33450" y="2438400"/>
            <a:ext cx="3257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核心提醒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33450" y="2800350"/>
            <a:ext cx="32575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4F8FF"/>
                </a:solidFill>
              </a:defRPr>
            </a:pPr>
            <a:r>
              <a:rPr sz="2250" b="1">
                <a:solidFill>
                  <a:srgbClr val="F4F8FF"/>
                </a:solidFill>
              </a:rPr>
              <a:t>在太空里，运动不是加分项，而是维持工作能力和返回能力的生命线。</a:t>
            </a:r>
            <a:endParaRPr sz="2250" b="1">
              <a:solidFill>
                <a:srgbClr val="F4F8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33450" y="4819650"/>
            <a:ext cx="3257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D0DCF0"/>
                </a:solidFill>
              </a:defRPr>
            </a:pPr>
            <a:r>
              <a:rPr sz="1125" b="0">
                <a:solidFill>
                  <a:srgbClr val="D0DCF0"/>
                </a:solidFill>
              </a:rPr>
              <a:t>失重减少了肌肉和骨骼承受的机械刺激，因此必须通过制度化训练，把地面环境中天然存在的负荷补回来。</a:t>
            </a:r>
            <a:endParaRPr sz="1125" b="0">
              <a:solidFill>
                <a:srgbClr val="D0DCF0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4629150" y="2266950"/>
            <a:ext cx="3143250" cy="1647825"/>
          </a:xfrm>
          <a:prstGeom prst="roundRect">
            <a:avLst>
              <a:gd name="adj" fmla="val 462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629150" y="2266950"/>
            <a:ext cx="3143250" cy="47625"/>
          </a:xfrm>
          <a:prstGeom prst="rect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800600" y="240030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有氧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800600" y="2647950"/>
            <a:ext cx="2800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维持心肺耐力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800600" y="3295650"/>
            <a:ext cx="280035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发射、在轨工作和返回后的恢复，都要求航天员保持基础耐力。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905750" y="2266950"/>
            <a:ext cx="3143250" cy="1647825"/>
          </a:xfrm>
          <a:prstGeom prst="roundRect">
            <a:avLst>
              <a:gd name="adj" fmla="val 462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905750" y="2266950"/>
            <a:ext cx="3143250" cy="47625"/>
          </a:xfrm>
          <a:prstGeom prst="rect">
            <a:avLst/>
          </a:prstGeom>
          <a:solidFill>
            <a:srgbClr val="75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077200" y="240030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抗阻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077200" y="2647950"/>
            <a:ext cx="2800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对抗肌肉与骨骼退化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077200" y="3295650"/>
            <a:ext cx="280035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失重意味着“身体不用托着自己”，久而久之肌肉和骨量都会下降。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4629150" y="4048125"/>
            <a:ext cx="3143250" cy="1647825"/>
          </a:xfrm>
          <a:prstGeom prst="roundRect">
            <a:avLst>
              <a:gd name="adj" fmla="val 462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629150" y="4048125"/>
            <a:ext cx="3143250" cy="47625"/>
          </a:xfrm>
          <a:prstGeom prst="rect">
            <a:avLst/>
          </a:prstGeom>
          <a:solidFill>
            <a:srgbClr val="FF7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800600" y="4181475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柔韧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800600" y="4429125"/>
            <a:ext cx="2800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让动作保持可控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800600" y="5076825"/>
            <a:ext cx="280035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在狭小舱内工作，动作控制和关节状态都要保持在稳定区间。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7905750" y="4048125"/>
            <a:ext cx="3143250" cy="1647825"/>
          </a:xfrm>
          <a:prstGeom prst="roundRect">
            <a:avLst>
              <a:gd name="adj" fmla="val 462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905750" y="4048125"/>
            <a:ext cx="3143250" cy="47625"/>
          </a:xfrm>
          <a:prstGeom prst="rect">
            <a:avLst/>
          </a:prstGeom>
          <a:solidFill>
            <a:srgbClr val="8FE2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077200" y="4181475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心理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077200" y="4429125"/>
            <a:ext cx="2800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运动也是情绪管理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077200" y="5076825"/>
            <a:ext cx="280035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长期封闭环境里，运动能帮助恢复节律，减轻疲劳和心理压力。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4629150" y="5886450"/>
            <a:ext cx="6419850" cy="495300"/>
          </a:xfrm>
          <a:prstGeom prst="roundRect">
            <a:avLst>
              <a:gd name="adj" fmla="val 15385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4800600" y="6000750"/>
            <a:ext cx="6076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运动、营养、作息和医学监测共同构成在轨健康维护闭环，任何一环缺失都会放大失重带来的影响。</a:t>
            </a:r>
            <a:endParaRPr sz="1050" b="0">
              <a:solidFill>
                <a:srgbClr val="F3F7F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10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人体适应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人体变化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10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7429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失重带来的，不是轻松，而是另一套生理学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381250"/>
            <a:ext cx="4762500" cy="1714500"/>
          </a:xfrm>
          <a:prstGeom prst="roundRect">
            <a:avLst>
              <a:gd name="adj" fmla="val 444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2381250"/>
            <a:ext cx="4762500" cy="47625"/>
          </a:xfrm>
          <a:prstGeom prst="rect">
            <a:avLst/>
          </a:prstGeom>
          <a:solidFill>
            <a:srgbClr val="75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251460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辐射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14400" y="2762250"/>
            <a:ext cx="441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空间环境比地面更“硬”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3409950"/>
            <a:ext cx="4419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辐射监测、防护材料和任务窗口选择，都是长期在轨绕不开的问题。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676900" y="2381250"/>
            <a:ext cx="5372100" cy="1714500"/>
          </a:xfrm>
          <a:prstGeom prst="roundRect">
            <a:avLst>
              <a:gd name="adj" fmla="val 444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676900" y="2381250"/>
            <a:ext cx="5372100" cy="47625"/>
          </a:xfrm>
          <a:prstGeom prst="rect">
            <a:avLst/>
          </a:prstGeom>
          <a:solidFill>
            <a:srgbClr val="FF7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848350" y="2514600"/>
            <a:ext cx="502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心理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848350" y="2762250"/>
            <a:ext cx="5029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封闭环境会放大情绪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848350" y="3409950"/>
            <a:ext cx="5029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航天员既要执行技术任务，也要管理自己的情绪和团队关系。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42950" y="4286250"/>
            <a:ext cx="10306050" cy="387350"/>
          </a:xfrm>
          <a:prstGeom prst="roundRect">
            <a:avLst>
              <a:gd name="adj" fmla="val 19672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14400" y="4400550"/>
            <a:ext cx="1257300" cy="15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5333"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体液与前庭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247900" y="4400550"/>
            <a:ext cx="8629650" cy="15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体液重新分布会改变头部感受，前庭系统初期容易出现眩晕和不适。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742950" y="4787900"/>
            <a:ext cx="10306050" cy="387350"/>
          </a:xfrm>
          <a:prstGeom prst="roundRect">
            <a:avLst>
              <a:gd name="adj" fmla="val 19672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14400" y="4902200"/>
            <a:ext cx="1257300" cy="15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5333"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肌肉与骨骼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247900" y="4902200"/>
            <a:ext cx="8629650" cy="15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长期失重会让肌肉和骨量下降，因此必须靠运动和营养补回来。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742950" y="5289550"/>
            <a:ext cx="10306050" cy="387350"/>
          </a:xfrm>
          <a:prstGeom prst="roundRect">
            <a:avLst>
              <a:gd name="adj" fmla="val 19672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14400" y="5403850"/>
            <a:ext cx="1257300" cy="15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5333"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节律与工作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247900" y="5403850"/>
            <a:ext cx="8629650" cy="15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睡眠、作息和情绪管理会直接影响在轨工作质量与风险控制。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742950" y="5848350"/>
            <a:ext cx="10306050" cy="533400"/>
          </a:xfrm>
          <a:prstGeom prst="roundRect">
            <a:avLst>
              <a:gd name="adj" fmla="val 14286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14400" y="5962650"/>
            <a:ext cx="9963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所以“宇航员在太空中如何生活”并不是一个轻松的科普题，而是关于人体、环境和工程如何互相适配的问题。</a:t>
            </a:r>
            <a:endParaRPr sz="1050" b="0">
              <a:solidFill>
                <a:srgbClr val="F3F7F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11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日程安排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一天流程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11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6667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宇航员的一天，高度程式化，但每一分钟都很贵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286000"/>
            <a:ext cx="2139950" cy="1562100"/>
          </a:xfrm>
          <a:prstGeom prst="roundRect">
            <a:avLst>
              <a:gd name="adj" fmla="val 4878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895350" y="24384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52500" y="24860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晨间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5350" y="2781300"/>
            <a:ext cx="1835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状态检查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95350" y="3143250"/>
            <a:ext cx="1835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先看身体、看任务计划、看设备状态，一天从检查开始。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016250" y="2286000"/>
            <a:ext cx="2139950" cy="1562100"/>
          </a:xfrm>
          <a:prstGeom prst="roundRect">
            <a:avLst>
              <a:gd name="adj" fmla="val 4878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3168650" y="24384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225800" y="24860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上午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168650" y="2781300"/>
            <a:ext cx="1835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实验与操作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168650" y="3143250"/>
            <a:ext cx="1835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执行当天的实验方案、站务维护和设备切换。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5289550" y="2286000"/>
            <a:ext cx="2139950" cy="1562100"/>
          </a:xfrm>
          <a:prstGeom prst="roundRect">
            <a:avLst>
              <a:gd name="adj" fmla="val 4878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5441950" y="24384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499100" y="24860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中段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441950" y="2781300"/>
            <a:ext cx="1835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天地沟通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441950" y="3143250"/>
            <a:ext cx="1835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和地面团队对表、汇报问题、更新后续步骤。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42950" y="4000500"/>
            <a:ext cx="2139950" cy="1562100"/>
          </a:xfrm>
          <a:prstGeom prst="roundRect">
            <a:avLst>
              <a:gd name="adj" fmla="val 4878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895350" y="41529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52500" y="42005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下午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95350" y="4495800"/>
            <a:ext cx="1835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整理与复核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95350" y="4857750"/>
            <a:ext cx="1835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把样品、工具和记录重新固定，避免下一轮任务受影响。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3016250" y="4000500"/>
            <a:ext cx="2139950" cy="1562100"/>
          </a:xfrm>
          <a:prstGeom prst="roundRect">
            <a:avLst>
              <a:gd name="adj" fmla="val 4878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3168650" y="41529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3225800" y="42005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固定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168650" y="4495800"/>
            <a:ext cx="1835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锻炼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168650" y="4857750"/>
            <a:ext cx="1835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再忙也要挪出专门时间运动，这属于必须完成的任务。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5289550" y="4000500"/>
            <a:ext cx="2139950" cy="1562100"/>
          </a:xfrm>
          <a:prstGeom prst="roundRect">
            <a:avLst>
              <a:gd name="adj" fmla="val 4878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5441950" y="41529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499100" y="42005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夜间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441950" y="4495800"/>
            <a:ext cx="1835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休息与节律维持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441950" y="4857750"/>
            <a:ext cx="1835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睡眠并不是“放空”，而是为第二天继续高强度任务做准备。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7829550" y="1619250"/>
            <a:ext cx="3219450" cy="3124200"/>
          </a:xfrm>
          <a:prstGeom prst="roundRect">
            <a:avLst>
              <a:gd name="adj" fmla="val 2439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900" y="2363438"/>
            <a:ext cx="2952750" cy="1635824"/>
          </a:xfrm>
          <a:prstGeom prst="rect">
            <a:avLst/>
          </a:prstGeom>
        </p:spPr>
      </p:pic>
      <p:sp>
        <p:nvSpPr>
          <p:cNvPr id="60" name="圆角矩形 59"/>
          <p:cNvSpPr>
            <a:spLocks noGrp="1"/>
          </p:cNvSpPr>
          <p:nvPr/>
        </p:nvSpPr>
        <p:spPr>
          <a:xfrm>
            <a:off x="7829550" y="4838700"/>
            <a:ext cx="3219450" cy="704850"/>
          </a:xfrm>
          <a:prstGeom prst="roundRect">
            <a:avLst>
              <a:gd name="adj" fmla="val 10811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981950" y="4953000"/>
            <a:ext cx="2914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太空生活的关键字是“计划性”。空间站里的作息、实验、锻炼和天地协同，都要围绕任务节奏被精确安排。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12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任务执行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58400" y="552450"/>
            <a:ext cx="11811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29850" y="6191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科学与维护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12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0" y="1143000"/>
            <a:ext cx="4953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宇航员在太空里不是“待着”，而是在持续工作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096000" y="2286000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096000" y="2286000"/>
            <a:ext cx="2409825" cy="47625"/>
          </a:xfrm>
          <a:prstGeom prst="rect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67450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实验研究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67450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把轨道变成实验室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67450" y="3314700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7411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微重力条件下，一些流体、材料和生命现象与地面完全不同。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639175" y="2286000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639175" y="2286000"/>
            <a:ext cx="2409825" cy="47625"/>
          </a:xfrm>
          <a:prstGeom prst="rect">
            <a:avLst/>
          </a:prstGeom>
          <a:solidFill>
            <a:srgbClr val="75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810625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设备维护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810625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空间站也要“物业管理”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810625" y="3314700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9625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滤芯、电路、计算设备、机柜和接口都要定期检查和更换。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096000" y="3781425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096000" y="3781425"/>
            <a:ext cx="2409825" cy="47625"/>
          </a:xfrm>
          <a:prstGeom prst="rect">
            <a:avLst/>
          </a:prstGeom>
          <a:solidFill>
            <a:srgbClr val="FF7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267450" y="391477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物资转运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267450" y="416242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每一件东西都要有去处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267450" y="4810125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7411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货物上行、样品回收、垃圾处理，都在空间受限条件下进行。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8639175" y="3781425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639175" y="3781425"/>
            <a:ext cx="2409825" cy="47625"/>
          </a:xfrm>
          <a:prstGeom prst="rect">
            <a:avLst/>
          </a:prstGeom>
          <a:solidFill>
            <a:srgbClr val="8FE2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810625" y="391477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天地协同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810625" y="416242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宇航员从不脱离地面团队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810625" y="4810125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58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地面控制、科研团队和工程团队始终在线，形成完整的任务闭环。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42950" y="1466850"/>
            <a:ext cx="4953000" cy="3752850"/>
          </a:xfrm>
          <a:prstGeom prst="roundRect">
            <a:avLst>
              <a:gd name="adj" fmla="val 203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rcRect l="12433" r="12433"/>
          <a:stretch>
            <a:fillRect/>
          </a:stretch>
        </p:blipFill>
        <p:spPr>
          <a:xfrm>
            <a:off x="838200" y="1562100"/>
            <a:ext cx="4762500" cy="3562350"/>
          </a:xfrm>
          <a:prstGeom prst="rect">
            <a:avLst/>
          </a:prstGeom>
        </p:spPr>
      </p:pic>
      <p:sp>
        <p:nvSpPr>
          <p:cNvPr id="50" name="圆角矩形 49"/>
          <p:cNvSpPr>
            <a:spLocks noGrp="1"/>
          </p:cNvSpPr>
          <p:nvPr/>
        </p:nvSpPr>
        <p:spPr>
          <a:xfrm>
            <a:off x="742950" y="5314950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95350" y="5429250"/>
            <a:ext cx="4648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航天员是空间站里的“综合岗位操作员”。从交会对接到设备操作，再到站务维护和天地协同，在轨任务本身就是连续的工作链。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13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科研价值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886950" y="55245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058400" y="619125"/>
            <a:ext cx="1009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为什么上天做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13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7810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F4F8FF"/>
                </a:solidFill>
              </a:defRPr>
            </a:pPr>
            <a:r>
              <a:rPr sz="2700" b="1">
                <a:solidFill>
                  <a:srgbClr val="F4F8FF"/>
                </a:solidFill>
              </a:rPr>
              <a:t>为什么一些实验非得搬到太空里做</a:t>
            </a:r>
            <a:endParaRPr sz="270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362200"/>
            <a:ext cx="3333750" cy="2324100"/>
          </a:xfrm>
          <a:prstGeom prst="roundRect">
            <a:avLst>
              <a:gd name="adj" fmla="val 3279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2533650"/>
            <a:ext cx="2990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流体与燃烧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2800350"/>
            <a:ext cx="29908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少了重力干扰，现象会“露出原形”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14400" y="3505200"/>
            <a:ext cx="29908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地面很多现象总被对流和沉降掩盖，而在轨道上能看到更纯粹的物理过程。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4229100" y="2362200"/>
            <a:ext cx="3333750" cy="2324100"/>
          </a:xfrm>
          <a:prstGeom prst="roundRect">
            <a:avLst>
              <a:gd name="adj" fmla="val 3279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400550" y="2533650"/>
            <a:ext cx="2990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材料与结晶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400550" y="2800350"/>
            <a:ext cx="29908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微结构更值得研究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400550" y="3505200"/>
            <a:ext cx="29908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材料形成过程对重力很敏感，轨道环境能提供不同的生长与分层条件。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715250" y="2362200"/>
            <a:ext cx="3333750" cy="2324100"/>
          </a:xfrm>
          <a:prstGeom prst="roundRect">
            <a:avLst>
              <a:gd name="adj" fmla="val 3279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886700" y="2533650"/>
            <a:ext cx="2990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生命与医学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886700" y="2800350"/>
            <a:ext cx="29908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人体响应本身就是研究对象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86700" y="3505200"/>
            <a:ext cx="29908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宇航员如何适应失重，也反过来帮助我们理解人体机制和地面医学问题。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42950" y="4914900"/>
            <a:ext cx="10306050" cy="590550"/>
          </a:xfrm>
          <a:prstGeom prst="roundRect">
            <a:avLst>
              <a:gd name="adj" fmla="val 12903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5029200"/>
            <a:ext cx="9963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如果把空间站只理解为“住人的地方”，就低估了它。它更像一个把极端环境转化为科研条件的轨道实验平台。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42950" y="5638800"/>
            <a:ext cx="10306050" cy="514350"/>
          </a:xfrm>
          <a:prstGeom prst="roundRect">
            <a:avLst>
              <a:gd name="adj" fmla="val 14815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14400" y="5753100"/>
            <a:ext cx="996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空间站的价值不仅在于“有人驻留”，更在于它把极端环境转化为可持续、可重复、可积累的数据平台。</a:t>
            </a:r>
            <a:endParaRPr sz="1050" b="0">
              <a:solidFill>
                <a:srgbClr val="F3F7F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14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舱外作业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风险控制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14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762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最硬核的任务：出舱活动与应急处置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324100"/>
            <a:ext cx="47625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33450" y="2457450"/>
            <a:ext cx="438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出舱活动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33450" y="2686050"/>
            <a:ext cx="43815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维修、更换、安装或测试舱外设备，对动作精度和时间窗口要求极高。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42950" y="3052763"/>
            <a:ext cx="47625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33450" y="3186113"/>
            <a:ext cx="438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任务清单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33450" y="3414713"/>
            <a:ext cx="43815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每一步几乎都要按预案执行，因为舱外没有“试试看”的空间。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42950" y="3781425"/>
            <a:ext cx="47625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33450" y="3914775"/>
            <a:ext cx="438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应急处置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33450" y="4143375"/>
            <a:ext cx="43815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失压、火灾、设备故障或身体异常，都必须按地面演练过的步骤快速响应。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42950" y="4510088"/>
            <a:ext cx="47625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33450" y="4643438"/>
            <a:ext cx="438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天地协同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3450" y="4872038"/>
            <a:ext cx="43815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宇航员在前端执行，真正支撑他的是后方完整的工程团队和地面判断链路。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42950" y="5334000"/>
            <a:ext cx="4762500" cy="647700"/>
          </a:xfrm>
          <a:prstGeom prst="roundRect">
            <a:avLst>
              <a:gd name="adj" fmla="val 11765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5448300"/>
            <a:ext cx="4419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越是高风险环节，越看不见“个人即兴发挥”，看见的更多是训练、制度、流程和团队支持。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5943600" y="1466850"/>
            <a:ext cx="5105400" cy="3752850"/>
          </a:xfrm>
          <a:prstGeom prst="roundRect">
            <a:avLst>
              <a:gd name="adj" fmla="val 203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0" y="2003822"/>
            <a:ext cx="4762500" cy="2678906"/>
          </a:xfrm>
          <a:prstGeom prst="rect">
            <a:avLst/>
          </a:prstGeom>
        </p:spPr>
      </p:pic>
      <p:sp>
        <p:nvSpPr>
          <p:cNvPr id="44" name="圆角矩形 43"/>
          <p:cNvSpPr>
            <a:spLocks noGrp="1"/>
          </p:cNvSpPr>
          <p:nvPr/>
        </p:nvSpPr>
        <p:spPr>
          <a:xfrm>
            <a:off x="5943600" y="5314950"/>
            <a:ext cx="5105400" cy="647700"/>
          </a:xfrm>
          <a:prstGeom prst="roundRect">
            <a:avLst>
              <a:gd name="adj" fmla="val 1176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096000" y="5429250"/>
            <a:ext cx="4800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舱外活动看起来像“走出舱门”，本质上却是把人装进一套独立生命保障系统里再去执行高风险任务。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15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返回流程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分离再入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15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42950" y="1562100"/>
            <a:ext cx="4476750" cy="3619500"/>
          </a:xfrm>
          <a:prstGeom prst="roundRect">
            <a:avLst>
              <a:gd name="adj" fmla="val 210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765" y="1714500"/>
            <a:ext cx="3239121" cy="3314700"/>
          </a:xfrm>
          <a:prstGeom prst="rect">
            <a:avLst/>
          </a:prstGeom>
        </p:spPr>
      </p:pic>
      <p:sp>
        <p:nvSpPr>
          <p:cNvPr id="29" name="圆角矩形 28"/>
          <p:cNvSpPr>
            <a:spLocks noGrp="1"/>
          </p:cNvSpPr>
          <p:nvPr/>
        </p:nvSpPr>
        <p:spPr>
          <a:xfrm>
            <a:off x="742950" y="5276850"/>
            <a:ext cx="4476750" cy="685800"/>
          </a:xfrm>
          <a:prstGeom prst="roundRect">
            <a:avLst>
              <a:gd name="adj" fmla="val 11111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5350" y="5391150"/>
            <a:ext cx="417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返回不是“掉下来”，而是一整套精密受控的减速与分离流程。只要有一步处理不好，前面所有任务成果都可能失去意义。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81650" y="1143000"/>
            <a:ext cx="54673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F4F8FF"/>
                </a:solidFill>
              </a:defRPr>
            </a:pPr>
            <a:r>
              <a:rPr sz="2400" b="1">
                <a:solidFill>
                  <a:srgbClr val="F4F8FF"/>
                </a:solidFill>
              </a:rPr>
              <a:t>回来为什么也很难：真正的关键在系统协同</a:t>
            </a:r>
            <a:endParaRPr sz="2400" b="1">
              <a:solidFill>
                <a:srgbClr val="F4F8FF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5581650" y="2324100"/>
            <a:ext cx="5467350" cy="628650"/>
          </a:xfrm>
          <a:prstGeom prst="roundRect">
            <a:avLst>
              <a:gd name="adj" fmla="val 12121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3" name="椭圆 32"/>
          <p:cNvSpPr>
            <a:spLocks noGrp="1"/>
          </p:cNvSpPr>
          <p:nvPr/>
        </p:nvSpPr>
        <p:spPr>
          <a:xfrm>
            <a:off x="5753100" y="2495550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753100" y="2552700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29350" y="2457450"/>
            <a:ext cx="462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撤离与准备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229350" y="2705100"/>
            <a:ext cx="462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1920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整理样品和设备，进入返回状态，确认返回舱工作正常。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5581650" y="3067050"/>
            <a:ext cx="5467350" cy="628650"/>
          </a:xfrm>
          <a:prstGeom prst="roundRect">
            <a:avLst>
              <a:gd name="adj" fmla="val 12121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5753100" y="3238500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753100" y="3295650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229350" y="3200400"/>
            <a:ext cx="462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分离与再入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229350" y="3448050"/>
            <a:ext cx="462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1920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服务舱分离后，返回舱按预定姿态切入大气层。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5581650" y="3810000"/>
            <a:ext cx="5467350" cy="628650"/>
          </a:xfrm>
          <a:prstGeom prst="roundRect">
            <a:avLst>
              <a:gd name="adj" fmla="val 12121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5753100" y="3981450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753100" y="4038600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229350" y="3943350"/>
            <a:ext cx="462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高热与黑障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229350" y="4191000"/>
            <a:ext cx="462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1920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再入阶段既要承受极高热流，也要经历短时通信受限。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5581650" y="4552950"/>
            <a:ext cx="5467350" cy="628650"/>
          </a:xfrm>
          <a:prstGeom prst="roundRect">
            <a:avLst>
              <a:gd name="adj" fmla="val 12121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5753100" y="4724400"/>
            <a:ext cx="304800" cy="304800"/>
          </a:xfrm>
          <a:prstGeom prst="ellipse">
            <a:avLst/>
          </a:prstGeom>
          <a:solidFill>
            <a:srgbClr val="75D8FF">
              <a:alpha val="13333"/>
            </a:srgbClr>
          </a:solidFill>
          <a:ln w="9525">
            <a:solidFill>
              <a:srgbClr val="75D8FF">
                <a:alpha val="26667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753100" y="4781550"/>
            <a:ext cx="3048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229350" y="4686300"/>
            <a:ext cx="4629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开伞与着陆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229350" y="4933950"/>
            <a:ext cx="462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1920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速度要多级减下来，着陆后还要迅速展开回收和医学检查。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5581650" y="5353050"/>
            <a:ext cx="5467350" cy="628650"/>
          </a:xfrm>
          <a:prstGeom prst="roundRect">
            <a:avLst>
              <a:gd name="adj" fmla="val 12121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5753100" y="5467350"/>
            <a:ext cx="512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返回任务把轨道飞行转换成地面安全着陆，真正考验的是轨道控制、热防护、减速和回收的全过程协同。</a:t>
            </a:r>
            <a:endParaRPr sz="1050" b="0">
              <a:solidFill>
                <a:srgbClr val="F3F7F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16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再入减速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高热防护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16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42950" y="1619250"/>
            <a:ext cx="2438400" cy="3524250"/>
          </a:xfrm>
          <a:prstGeom prst="roundRect">
            <a:avLst>
              <a:gd name="adj" fmla="val 312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292804"/>
            <a:ext cx="2133600" cy="2177143"/>
          </a:xfrm>
          <a:prstGeom prst="rect">
            <a:avLst/>
          </a:prstGeom>
        </p:spPr>
      </p:pic>
      <p:sp>
        <p:nvSpPr>
          <p:cNvPr id="29" name="圆角矩形 28"/>
          <p:cNvSpPr>
            <a:spLocks noGrp="1"/>
          </p:cNvSpPr>
          <p:nvPr/>
        </p:nvSpPr>
        <p:spPr>
          <a:xfrm>
            <a:off x="742950" y="5238750"/>
            <a:ext cx="2438400" cy="457200"/>
          </a:xfrm>
          <a:prstGeom prst="roundRect">
            <a:avLst>
              <a:gd name="adj" fmla="val 16667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5350" y="535305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再入阶段最大的关键词是高热。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3333750" y="1619250"/>
            <a:ext cx="2438400" cy="3524250"/>
          </a:xfrm>
          <a:prstGeom prst="roundRect">
            <a:avLst>
              <a:gd name="adj" fmla="val 312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596210"/>
            <a:ext cx="2133600" cy="1570330"/>
          </a:xfrm>
          <a:prstGeom prst="rect">
            <a:avLst/>
          </a:prstGeom>
        </p:spPr>
      </p:pic>
      <p:sp>
        <p:nvSpPr>
          <p:cNvPr id="33" name="圆角矩形 32"/>
          <p:cNvSpPr>
            <a:spLocks noGrp="1"/>
          </p:cNvSpPr>
          <p:nvPr/>
        </p:nvSpPr>
        <p:spPr>
          <a:xfrm>
            <a:off x="3333750" y="5238750"/>
            <a:ext cx="2438400" cy="457200"/>
          </a:xfrm>
          <a:prstGeom prst="roundRect">
            <a:avLst>
              <a:gd name="adj" fmla="val 16667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535305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开伞阶段最大的关键词是减速。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0" y="1143000"/>
            <a:ext cx="4953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F4F8FF"/>
                </a:solidFill>
              </a:defRPr>
            </a:pPr>
            <a:r>
              <a:rPr sz="2400" b="1">
                <a:solidFill>
                  <a:srgbClr val="F4F8FF"/>
                </a:solidFill>
              </a:rPr>
              <a:t>真正的硬仗在再入：高温、姿态控制、减速一环都不能少</a:t>
            </a:r>
            <a:endParaRPr sz="2400" b="1">
              <a:solidFill>
                <a:srgbClr val="F4F8FF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096000" y="2286000"/>
            <a:ext cx="2409825" cy="1647825"/>
          </a:xfrm>
          <a:prstGeom prst="roundRect">
            <a:avLst>
              <a:gd name="adj" fmla="val 462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096000" y="2286000"/>
            <a:ext cx="2409825" cy="47625"/>
          </a:xfrm>
          <a:prstGeom prst="rect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267450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防热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267450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返回舱要扛住高热冲刷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267450" y="3314700"/>
            <a:ext cx="2066925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大气再入时的热环境极端，防热结构和材料设计是保命底线。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8639175" y="2286000"/>
            <a:ext cx="2409825" cy="1647825"/>
          </a:xfrm>
          <a:prstGeom prst="roundRect">
            <a:avLst>
              <a:gd name="adj" fmla="val 462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639175" y="2286000"/>
            <a:ext cx="2409825" cy="47625"/>
          </a:xfrm>
          <a:prstGeom prst="rect">
            <a:avLst/>
          </a:prstGeom>
          <a:solidFill>
            <a:srgbClr val="75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810625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姿态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810625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不是随便“烧回来”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810625" y="3314700"/>
            <a:ext cx="2066925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返回姿态一旦偏差过大，热流分布和减速过程都会变得危险。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096000" y="4067175"/>
            <a:ext cx="2409825" cy="1647825"/>
          </a:xfrm>
          <a:prstGeom prst="roundRect">
            <a:avLst>
              <a:gd name="adj" fmla="val 462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096000" y="4067175"/>
            <a:ext cx="2409825" cy="47625"/>
          </a:xfrm>
          <a:prstGeom prst="rect">
            <a:avLst/>
          </a:prstGeom>
          <a:solidFill>
            <a:srgbClr val="FF7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267450" y="420052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降落伞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267450" y="444817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减速要分级完成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267450" y="5095875"/>
            <a:ext cx="2066925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不是一把伞解决全部问题，而是一套次序严密的减速逻辑。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8639175" y="4067175"/>
            <a:ext cx="2409825" cy="1647825"/>
          </a:xfrm>
          <a:prstGeom prst="roundRect">
            <a:avLst>
              <a:gd name="adj" fmla="val 462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639175" y="4067175"/>
            <a:ext cx="2409825" cy="47625"/>
          </a:xfrm>
          <a:prstGeom prst="rect">
            <a:avLst/>
          </a:prstGeom>
          <a:solidFill>
            <a:srgbClr val="8FE2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810625" y="420052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回收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810625" y="444817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落地后立刻进入回收链路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810625" y="5095875"/>
            <a:ext cx="2066925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地面搜救和医学保障必须迅速跟上，把“安全返回”真正闭环完成。</a:t>
            </a:r>
            <a:endParaRPr sz="1050" b="0">
              <a:solidFill>
                <a:srgbClr val="D0DCF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17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返回恢复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58400" y="552450"/>
            <a:ext cx="11811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29850" y="6191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重力再适应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17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953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F4F8FF"/>
                </a:solidFill>
              </a:defRPr>
            </a:pPr>
            <a:r>
              <a:rPr sz="2400" b="1">
                <a:solidFill>
                  <a:srgbClr val="F4F8FF"/>
                </a:solidFill>
              </a:rPr>
              <a:t>落地不等于结束：重新适应地球，也是任务的一部分</a:t>
            </a:r>
            <a:endParaRPr sz="240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324100"/>
            <a:ext cx="49530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33450" y="2457450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重力再适应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33450" y="2686050"/>
            <a:ext cx="45720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在轨长期微重力后，重新面对地球重力，航天员可能会出现眩晕、乏力和不适。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42950" y="3052763"/>
            <a:ext cx="49530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33450" y="3186113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医学观察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33450" y="3414713"/>
            <a:ext cx="45720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心血管、肌肉骨骼、前庭平衡和睡眠状态都要持续评估。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42950" y="3781425"/>
            <a:ext cx="49530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33450" y="3914775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任务收口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33450" y="4143375"/>
            <a:ext cx="45720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除了照顾人本身，还要及时转运样品、回收数据、复盘操作记录。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42950" y="4510088"/>
            <a:ext cx="4953000" cy="614363"/>
          </a:xfrm>
          <a:prstGeom prst="roundRect">
            <a:avLst>
              <a:gd name="adj" fmla="val 124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33450" y="4643438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心理切换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3450" y="4872038"/>
            <a:ext cx="4572000" cy="1381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84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从高度紧张的任务状态回到地面生活，同样需要一个过渡过程。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42950" y="5334000"/>
            <a:ext cx="4953000" cy="647700"/>
          </a:xfrm>
          <a:prstGeom prst="roundRect">
            <a:avLst>
              <a:gd name="adj" fmla="val 11765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5448300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重新适应地球重力的过程，说明载人航天并不是一次简单往返，而是一场跨环境的人体适应实验。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096000" y="1466850"/>
            <a:ext cx="4953000" cy="1676400"/>
          </a:xfrm>
          <a:prstGeom prst="roundRect">
            <a:avLst>
              <a:gd name="adj" fmla="val 454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rcRect t="25926" b="25926"/>
          <a:stretch>
            <a:fillRect/>
          </a:stretch>
        </p:blipFill>
        <p:spPr>
          <a:xfrm>
            <a:off x="6191250" y="1562100"/>
            <a:ext cx="4762500" cy="1485900"/>
          </a:xfrm>
          <a:prstGeom prst="rect">
            <a:avLst/>
          </a:prstGeom>
        </p:spPr>
      </p:pic>
      <p:sp>
        <p:nvSpPr>
          <p:cNvPr id="44" name="圆角矩形 43"/>
          <p:cNvSpPr>
            <a:spLocks noGrp="1"/>
          </p:cNvSpPr>
          <p:nvPr/>
        </p:nvSpPr>
        <p:spPr>
          <a:xfrm>
            <a:off x="6096000" y="3238500"/>
            <a:ext cx="4953000" cy="457200"/>
          </a:xfrm>
          <a:prstGeom prst="roundRect">
            <a:avLst>
              <a:gd name="adj" fmla="val 16667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248400" y="33528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着陆后，返回舱并不是“终点”，而是回收工作的起点。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096000" y="3867150"/>
            <a:ext cx="4953000" cy="1504950"/>
          </a:xfrm>
          <a:prstGeom prst="roundRect">
            <a:avLst>
              <a:gd name="adj" fmla="val 5063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rcRect t="29341" b="29341"/>
          <a:stretch>
            <a:fillRect/>
          </a:stretch>
        </p:blipFill>
        <p:spPr>
          <a:xfrm>
            <a:off x="6191250" y="3962400"/>
            <a:ext cx="4762500" cy="1314450"/>
          </a:xfrm>
          <a:prstGeom prst="rect">
            <a:avLst/>
          </a:prstGeom>
        </p:spPr>
      </p:pic>
      <p:sp>
        <p:nvSpPr>
          <p:cNvPr id="48" name="圆角矩形 47"/>
          <p:cNvSpPr>
            <a:spLocks noGrp="1"/>
          </p:cNvSpPr>
          <p:nvPr/>
        </p:nvSpPr>
        <p:spPr>
          <a:xfrm>
            <a:off x="6096000" y="5467350"/>
            <a:ext cx="4953000" cy="495300"/>
          </a:xfrm>
          <a:prstGeom prst="roundRect">
            <a:avLst>
              <a:gd name="adj" fmla="val 1538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248400" y="5581650"/>
            <a:ext cx="464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回收、体检、恢复，是“安全返回”的完整闭环。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18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航天历史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世界航天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18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57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航天史的主线，是不断突破“更快、更远、更稳”的能力边界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324100"/>
            <a:ext cx="2219325" cy="1400175"/>
          </a:xfrm>
          <a:prstGeom prst="roundRect">
            <a:avLst>
              <a:gd name="adj" fmla="val 5442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2324100"/>
            <a:ext cx="2219325" cy="47625"/>
          </a:xfrm>
          <a:prstGeom prst="rect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2457450"/>
            <a:ext cx="18764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5D8FF"/>
                </a:solidFill>
              </a:defRPr>
            </a:pPr>
            <a:r>
              <a:rPr sz="825" b="1">
                <a:solidFill>
                  <a:srgbClr val="75D8FF"/>
                </a:solidFill>
              </a:rPr>
              <a:t>起源</a:t>
            </a:r>
            <a:endParaRPr sz="825" b="1">
              <a:solidFill>
                <a:srgbClr val="75D8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14400" y="2705100"/>
            <a:ext cx="18764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4F8FF"/>
                </a:solidFill>
              </a:defRPr>
            </a:pPr>
            <a:r>
              <a:rPr sz="1500" b="1">
                <a:solidFill>
                  <a:srgbClr val="F4F8FF"/>
                </a:solidFill>
              </a:rPr>
              <a:t>从火药火箭到现代航天</a:t>
            </a:r>
            <a:endParaRPr sz="150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3200400"/>
            <a:ext cx="1876425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606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古代火箭解决了“喷气推进”的原始想象，现代液体火箭才真正打开了航天时代的大门。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095625" y="2324100"/>
            <a:ext cx="2219325" cy="1400175"/>
          </a:xfrm>
          <a:prstGeom prst="roundRect">
            <a:avLst>
              <a:gd name="adj" fmla="val 5442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095625" y="2324100"/>
            <a:ext cx="2219325" cy="47625"/>
          </a:xfrm>
          <a:prstGeom prst="rect">
            <a:avLst/>
          </a:prstGeom>
          <a:solidFill>
            <a:srgbClr val="75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267075" y="2457450"/>
            <a:ext cx="18764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5D8FF"/>
                </a:solidFill>
              </a:defRPr>
            </a:pPr>
            <a:r>
              <a:rPr sz="825" b="1">
                <a:solidFill>
                  <a:srgbClr val="75D8FF"/>
                </a:solidFill>
              </a:rPr>
              <a:t>起点</a:t>
            </a:r>
            <a:endParaRPr sz="825" b="1">
              <a:solidFill>
                <a:srgbClr val="75D8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267075" y="2705100"/>
            <a:ext cx="18764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4F8FF"/>
                </a:solidFill>
              </a:defRPr>
            </a:pPr>
            <a:r>
              <a:rPr sz="1500" b="1">
                <a:solidFill>
                  <a:srgbClr val="F4F8FF"/>
                </a:solidFill>
              </a:rPr>
              <a:t>卫星上天改写了人类尺度</a:t>
            </a:r>
            <a:endParaRPr sz="150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267075" y="3200400"/>
            <a:ext cx="1876425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7982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第一颗人造卫星进入轨道，意味着人类开始具备稳定抵达太空的能力。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42950" y="3857625"/>
            <a:ext cx="2219325" cy="1400175"/>
          </a:xfrm>
          <a:prstGeom prst="roundRect">
            <a:avLst>
              <a:gd name="adj" fmla="val 5442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42950" y="3857625"/>
            <a:ext cx="2219325" cy="47625"/>
          </a:xfrm>
          <a:prstGeom prst="rect">
            <a:avLst/>
          </a:prstGeom>
          <a:solidFill>
            <a:srgbClr val="FF7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14400" y="3990975"/>
            <a:ext cx="18764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5D8FF"/>
                </a:solidFill>
              </a:defRPr>
            </a:pPr>
            <a:r>
              <a:rPr sz="825" b="1">
                <a:solidFill>
                  <a:srgbClr val="75D8FF"/>
                </a:solidFill>
              </a:rPr>
              <a:t>跨越</a:t>
            </a:r>
            <a:endParaRPr sz="825" b="1">
              <a:solidFill>
                <a:srgbClr val="75D8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4238625"/>
            <a:ext cx="18764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4F8FF"/>
                </a:solidFill>
              </a:defRPr>
            </a:pPr>
            <a:r>
              <a:rPr sz="1500" b="1">
                <a:solidFill>
                  <a:srgbClr val="F4F8FF"/>
                </a:solidFill>
              </a:rPr>
              <a:t>载人飞行把“机器飞”变成“人能去”</a:t>
            </a:r>
            <a:endParaRPr sz="150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14400" y="4733925"/>
            <a:ext cx="1876425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606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从加加林进入太空，到登月成功，航天史开始同时面对人体适应与工程控制两条难线。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3095625" y="3857625"/>
            <a:ext cx="2219325" cy="1400175"/>
          </a:xfrm>
          <a:prstGeom prst="roundRect">
            <a:avLst>
              <a:gd name="adj" fmla="val 5442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095625" y="3857625"/>
            <a:ext cx="2219325" cy="47625"/>
          </a:xfrm>
          <a:prstGeom prst="rect">
            <a:avLst/>
          </a:prstGeom>
          <a:solidFill>
            <a:srgbClr val="8FE2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267075" y="3990975"/>
            <a:ext cx="18764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5D8FF"/>
                </a:solidFill>
              </a:defRPr>
            </a:pPr>
            <a:r>
              <a:rPr sz="825" b="1">
                <a:solidFill>
                  <a:srgbClr val="75D8FF"/>
                </a:solidFill>
              </a:rPr>
              <a:t>延展</a:t>
            </a:r>
            <a:endParaRPr sz="825" b="1">
              <a:solidFill>
                <a:srgbClr val="75D8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267075" y="4238625"/>
            <a:ext cx="18764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4F8FF"/>
                </a:solidFill>
              </a:defRPr>
            </a:pPr>
            <a:r>
              <a:rPr sz="1500" b="1">
                <a:solidFill>
                  <a:srgbClr val="F4F8FF"/>
                </a:solidFill>
              </a:rPr>
              <a:t>空间站时代强调长期任务</a:t>
            </a:r>
            <a:endParaRPr sz="150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267075" y="4733925"/>
            <a:ext cx="1876425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606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真正的成熟不是飞一次，而是能够长期运营、持续补给、稳定执行实验并安全返回。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42950" y="5467350"/>
            <a:ext cx="4572000" cy="571500"/>
          </a:xfrm>
          <a:prstGeom prst="roundRect">
            <a:avLst>
              <a:gd name="adj" fmla="val 13333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14400" y="5581650"/>
            <a:ext cx="422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航天历史真正改变的，不只是飞行高度，而是人类把短时抵达太空逐步发展成长期利用太空的能力。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5829300" y="1428750"/>
            <a:ext cx="2457450" cy="1466850"/>
          </a:xfrm>
          <a:prstGeom prst="roundRect">
            <a:avLst>
              <a:gd name="adj" fmla="val 519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1225" y="1562100"/>
            <a:ext cx="2133600" cy="1200150"/>
          </a:xfrm>
          <a:prstGeom prst="rect">
            <a:avLst/>
          </a:prstGeom>
        </p:spPr>
      </p:pic>
      <p:sp>
        <p:nvSpPr>
          <p:cNvPr id="52" name="圆角矩形 51"/>
          <p:cNvSpPr>
            <a:spLocks noGrp="1"/>
          </p:cNvSpPr>
          <p:nvPr/>
        </p:nvSpPr>
        <p:spPr>
          <a:xfrm>
            <a:off x="5829300" y="2990850"/>
            <a:ext cx="2457450" cy="514350"/>
          </a:xfrm>
          <a:prstGeom prst="roundRect">
            <a:avLst>
              <a:gd name="adj" fmla="val 1481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5981700" y="3105150"/>
            <a:ext cx="2152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火箭起源：从古代火药火箭到现代航天理论，推进方式不断演化。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8458200" y="1428750"/>
            <a:ext cx="2457450" cy="1466850"/>
          </a:xfrm>
          <a:prstGeom prst="roundRect">
            <a:avLst>
              <a:gd name="adj" fmla="val 519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5" y="1562100"/>
            <a:ext cx="2133600" cy="1200150"/>
          </a:xfrm>
          <a:prstGeom prst="rect">
            <a:avLst/>
          </a:prstGeom>
        </p:spPr>
      </p:pic>
      <p:sp>
        <p:nvSpPr>
          <p:cNvPr id="56" name="圆角矩形 55"/>
          <p:cNvSpPr>
            <a:spLocks noGrp="1"/>
          </p:cNvSpPr>
          <p:nvPr/>
        </p:nvSpPr>
        <p:spPr>
          <a:xfrm>
            <a:off x="8458200" y="2990850"/>
            <a:ext cx="2457450" cy="514350"/>
          </a:xfrm>
          <a:prstGeom prst="roundRect">
            <a:avLst>
              <a:gd name="adj" fmla="val 1481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610600" y="3105150"/>
            <a:ext cx="2152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第一颗人造卫星：把“进入轨道”变成人类工程能力的一部分。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5829300" y="3695700"/>
            <a:ext cx="2457450" cy="1466850"/>
          </a:xfrm>
          <a:prstGeom prst="roundRect">
            <a:avLst>
              <a:gd name="adj" fmla="val 519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3829050"/>
            <a:ext cx="2133600" cy="1200150"/>
          </a:xfrm>
          <a:prstGeom prst="rect">
            <a:avLst/>
          </a:prstGeom>
        </p:spPr>
      </p:pic>
      <p:sp>
        <p:nvSpPr>
          <p:cNvPr id="60" name="圆角矩形 59"/>
          <p:cNvSpPr>
            <a:spLocks noGrp="1"/>
          </p:cNvSpPr>
          <p:nvPr/>
        </p:nvSpPr>
        <p:spPr>
          <a:xfrm>
            <a:off x="5829300" y="5257800"/>
            <a:ext cx="2457450" cy="514350"/>
          </a:xfrm>
          <a:prstGeom prst="roundRect">
            <a:avLst>
              <a:gd name="adj" fmla="val 1481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5981700" y="5372100"/>
            <a:ext cx="2152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首次载人飞行：航天从无人探测迈向人体参与的新时代。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8458200" y="3695700"/>
            <a:ext cx="2457450" cy="1466850"/>
          </a:xfrm>
          <a:prstGeom prst="roundRect">
            <a:avLst>
              <a:gd name="adj" fmla="val 519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5" y="3829050"/>
            <a:ext cx="2133600" cy="1200150"/>
          </a:xfrm>
          <a:prstGeom prst="rect">
            <a:avLst/>
          </a:prstGeom>
        </p:spPr>
      </p:pic>
      <p:sp>
        <p:nvSpPr>
          <p:cNvPr id="64" name="圆角矩形 63"/>
          <p:cNvSpPr>
            <a:spLocks noGrp="1"/>
          </p:cNvSpPr>
          <p:nvPr/>
        </p:nvSpPr>
        <p:spPr>
          <a:xfrm>
            <a:off x="8458200" y="5257800"/>
            <a:ext cx="2457450" cy="514350"/>
          </a:xfrm>
          <a:prstGeom prst="roundRect">
            <a:avLst>
              <a:gd name="adj" fmla="val 1481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8610600" y="5372100"/>
            <a:ext cx="2152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登月任务：展示了推进、导航、返回与组织能力的综合跃升。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19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1009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中国载人航天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稳定运营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19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6762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75" b="1">
                <a:solidFill>
                  <a:srgbClr val="F4F8FF"/>
                </a:solidFill>
              </a:defRPr>
            </a:pPr>
            <a:r>
              <a:rPr sz="2475" b="1">
                <a:solidFill>
                  <a:srgbClr val="F4F8FF"/>
                </a:solidFill>
              </a:rPr>
              <a:t>中国载人航天，正在把“能飞”升级为“长期稳定在轨运行”</a:t>
            </a:r>
            <a:endParaRPr sz="2475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26695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895350" y="241935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52500" y="246697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1970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5350" y="276225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东方红一号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95350" y="312420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长征一号把中国第一颗人造卫星送入轨道，航天工程迈出标志性一步。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041650" y="226695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3194050" y="241935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251200" y="246697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2003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194050" y="276225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神舟五号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194050" y="312420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长征二号F托举神舟五号入轨，独立载人航天能力形成。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5340350" y="226695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5492750" y="241935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549900" y="246697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2008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492750" y="276225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神舟七号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492750" y="312420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神舟飞船支持首次空间出舱活动，把任务推进到“在轨作业”。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42950" y="388620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895350" y="40386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52500" y="40862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2012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95350" y="438150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神舟九号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95350" y="474345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神舟与目标飞行器完成首次载人交会对接，组合体运行取得关键突破。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3041650" y="388620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3194050" y="40386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3251200" y="40862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2022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194050" y="438150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空间站建成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194050" y="474345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天和、问天、梦天形成基本构型，空间站平台真正落地。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5340350" y="388620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5492750" y="40386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549900" y="40862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持续推进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492750" y="438150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常态化运营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492750" y="474345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神舟轮换、天舟补给、舱外活动和实验任务进入稳定阶段。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7810500" y="1676400"/>
            <a:ext cx="3238500" cy="1352550"/>
          </a:xfrm>
          <a:prstGeom prst="roundRect">
            <a:avLst>
              <a:gd name="adj" fmla="val 5634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8417" y="1828800"/>
            <a:ext cx="1862667" cy="1047750"/>
          </a:xfrm>
          <a:prstGeom prst="rect">
            <a:avLst/>
          </a:prstGeom>
        </p:spPr>
      </p:pic>
      <p:sp>
        <p:nvSpPr>
          <p:cNvPr id="60" name="圆角矩形 59"/>
          <p:cNvSpPr>
            <a:spLocks noGrp="1"/>
          </p:cNvSpPr>
          <p:nvPr/>
        </p:nvSpPr>
        <p:spPr>
          <a:xfrm>
            <a:off x="7810500" y="3124200"/>
            <a:ext cx="3238500" cy="514350"/>
          </a:xfrm>
          <a:prstGeom prst="roundRect">
            <a:avLst>
              <a:gd name="adj" fmla="val 1481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962900" y="3238500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从神舟飞船到空间站任务，中国载人航天能力是沿着一系列关键节点持续长出来的。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810500" y="3790950"/>
            <a:ext cx="3238500" cy="1352550"/>
          </a:xfrm>
          <a:prstGeom prst="roundRect">
            <a:avLst>
              <a:gd name="adj" fmla="val 5634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417" y="3943350"/>
            <a:ext cx="1862667" cy="1047750"/>
          </a:xfrm>
          <a:prstGeom prst="rect">
            <a:avLst/>
          </a:prstGeom>
        </p:spPr>
      </p:pic>
      <p:sp>
        <p:nvSpPr>
          <p:cNvPr id="64" name="圆角矩形 63"/>
          <p:cNvSpPr>
            <a:spLocks noGrp="1"/>
          </p:cNvSpPr>
          <p:nvPr/>
        </p:nvSpPr>
        <p:spPr>
          <a:xfrm>
            <a:off x="7810500" y="5238750"/>
            <a:ext cx="3238500" cy="514350"/>
          </a:xfrm>
          <a:prstGeom prst="roundRect">
            <a:avLst>
              <a:gd name="adj" fmla="val 1481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7962900" y="5353050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长征二号F、长征七号、长征五号和长征八号系列，正在共同托起载人、补给、深空和商业发射能力。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742950" y="5562600"/>
            <a:ext cx="6762750" cy="495300"/>
          </a:xfrm>
          <a:prstGeom prst="roundRect">
            <a:avLst>
              <a:gd name="adj" fmla="val 15385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914400" y="5676900"/>
            <a:ext cx="641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623"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如果点一下航天科技集团研制的型号链，可以看到这套能力不是抽象概念，而是由长征二号F、神舟、长征五号系列、长征七号、天舟以及空间站舱段共同支撑起来的。</a:t>
            </a:r>
            <a:endParaRPr sz="1050" b="0">
              <a:solidFill>
                <a:srgbClr val="F3F7F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20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近期任务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372600" y="552450"/>
            <a:ext cx="18669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544050" y="61912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2024-2025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20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6762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75" b="1">
                <a:solidFill>
                  <a:srgbClr val="F4F8FF"/>
                </a:solidFill>
              </a:defRPr>
            </a:pPr>
            <a:r>
              <a:rPr sz="2475" b="1">
                <a:solidFill>
                  <a:srgbClr val="F4F8FF"/>
                </a:solidFill>
              </a:rPr>
              <a:t>把视角拉近：近期中国航天的重点任务，正在同时推进载人、深空、登月与可重复使用方向</a:t>
            </a:r>
            <a:endParaRPr sz="2475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26695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895350" y="241935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52500" y="246697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2025.04.24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5350" y="276225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神舟二十号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95350" y="312420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长征二号F发射成功，航天员乘组顺利进入中国空间站，空间站常态化运营继续向前推进。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041650" y="226695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3194050" y="241935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251200" y="246697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2025.05.29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194050" y="276225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天问二号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194050" y="312420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中国行星探测工程继续向深空迈进，任务瞄准小行星采样返回与彗星伴飞探测。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5340350" y="226695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5492750" y="241935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549900" y="246697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2025.03.14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492750" y="276225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海南商发一号工位首秀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492750" y="312420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商业航天发射场首个工位投入使用并完成长八火箭发射，发射基础设施能力正在补齐。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42950" y="388620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895350" y="40386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52500" y="40862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2024.11.22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95350" y="438150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长征十号系列试验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95350" y="474345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面向载人登月任务，长征十号系列运载火箭完成整流罩分离试验，关键大系统验证持续推进。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3041650" y="388620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3194050" y="40386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3251200" y="40862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2024.09.11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194050" y="438150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朱雀三号 10 公里级回收试验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194050" y="474345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可重复使用方向已从概念验证走向实飞验证，垂直起降返回能力开始进入工程化阶段。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5340350" y="3886200"/>
            <a:ext cx="2165350" cy="1466850"/>
          </a:xfrm>
          <a:prstGeom prst="roundRect">
            <a:avLst>
              <a:gd name="adj" fmla="val 519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5492750" y="4038600"/>
            <a:ext cx="685800" cy="228600"/>
          </a:xfrm>
          <a:prstGeom prst="roundRect">
            <a:avLst>
              <a:gd name="adj" fmla="val 33333"/>
            </a:avLst>
          </a:prstGeom>
          <a:solidFill>
            <a:srgbClr val="FF765E">
              <a:alpha val="9412"/>
            </a:srgbClr>
          </a:solidFill>
          <a:ln w="9525">
            <a:solidFill>
              <a:srgbClr val="FF765E">
                <a:alpha val="14118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549900" y="408622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D8CF"/>
                </a:solidFill>
              </a:defRPr>
            </a:pPr>
            <a:r>
              <a:rPr sz="825" b="1">
                <a:solidFill>
                  <a:srgbClr val="FFD8CF"/>
                </a:solidFill>
              </a:rPr>
              <a:t>看趋势</a:t>
            </a:r>
            <a:endParaRPr sz="825" b="1">
              <a:solidFill>
                <a:srgbClr val="FFD8CF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492750" y="4381500"/>
            <a:ext cx="186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4F8FF"/>
                </a:solidFill>
              </a:defRPr>
            </a:pPr>
            <a:r>
              <a:rPr sz="1200" b="1">
                <a:solidFill>
                  <a:srgbClr val="F4F8FF"/>
                </a:solidFill>
              </a:rPr>
              <a:t>几条能力线并行展开</a:t>
            </a:r>
            <a:endParaRPr sz="1200" b="1">
              <a:solidFill>
                <a:srgbClr val="F4F8F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492750" y="4743450"/>
            <a:ext cx="1860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0DCF0"/>
                </a:solidFill>
              </a:defRPr>
            </a:pPr>
            <a:r>
              <a:rPr sz="975" b="0">
                <a:solidFill>
                  <a:srgbClr val="D0DCF0"/>
                </a:solidFill>
              </a:rPr>
              <a:t>空间站运营、深空探测、面向登月、商业发射与可重复使用，不再是单线突破，而是在同步建设。</a:t>
            </a:r>
            <a:endParaRPr sz="975" b="0">
              <a:solidFill>
                <a:srgbClr val="D0DCF0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7810500" y="1676400"/>
            <a:ext cx="3238500" cy="1352550"/>
          </a:xfrm>
          <a:prstGeom prst="roundRect">
            <a:avLst>
              <a:gd name="adj" fmla="val 5634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05" y="1828800"/>
            <a:ext cx="1536290" cy="1047750"/>
          </a:xfrm>
          <a:prstGeom prst="rect">
            <a:avLst/>
          </a:prstGeom>
        </p:spPr>
      </p:pic>
      <p:sp>
        <p:nvSpPr>
          <p:cNvPr id="60" name="圆角矩形 59"/>
          <p:cNvSpPr>
            <a:spLocks noGrp="1"/>
          </p:cNvSpPr>
          <p:nvPr/>
        </p:nvSpPr>
        <p:spPr>
          <a:xfrm>
            <a:off x="7810500" y="3124200"/>
            <a:ext cx="3238500" cy="514350"/>
          </a:xfrm>
          <a:prstGeom prst="roundRect">
            <a:avLst>
              <a:gd name="adj" fmla="val 1481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962900" y="3238500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天问二号任务示意图：把小行星采样返回与彗星伴飞探测放进同一次深空任务设计中。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810500" y="3790950"/>
            <a:ext cx="3238500" cy="1352550"/>
          </a:xfrm>
          <a:prstGeom prst="roundRect">
            <a:avLst>
              <a:gd name="adj" fmla="val 5634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rcRect t="16139" b="16139"/>
          <a:stretch>
            <a:fillRect/>
          </a:stretch>
        </p:blipFill>
        <p:spPr>
          <a:xfrm>
            <a:off x="7905750" y="3886200"/>
            <a:ext cx="3048000" cy="1162050"/>
          </a:xfrm>
          <a:prstGeom prst="rect">
            <a:avLst/>
          </a:prstGeom>
        </p:spPr>
      </p:pic>
      <p:sp>
        <p:nvSpPr>
          <p:cNvPr id="64" name="圆角矩形 63"/>
          <p:cNvSpPr>
            <a:spLocks noGrp="1"/>
          </p:cNvSpPr>
          <p:nvPr/>
        </p:nvSpPr>
        <p:spPr>
          <a:xfrm>
            <a:off x="7810500" y="5238750"/>
            <a:ext cx="3238500" cy="514350"/>
          </a:xfrm>
          <a:prstGeom prst="roundRect">
            <a:avLst>
              <a:gd name="adj" fmla="val 14815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7962900" y="5353050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5618"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朱雀三号 10 公里级垂直起降飞行试验，代表可重复使用能力已经进入实飞验证阶段。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742950" y="5562600"/>
            <a:ext cx="6762750" cy="495300"/>
          </a:xfrm>
          <a:prstGeom prst="roundRect">
            <a:avLst>
              <a:gd name="adj" fmla="val 15385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914400" y="5676900"/>
            <a:ext cx="641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623"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如果只看单次发射，会觉得每个任务彼此独立；把时间轴拉近后会发现，中国航天正在同步建设“稳定在轨、走向深空、面向登月、提升发射效率和探索重复使用”这几条能力线。</a:t>
            </a:r>
            <a:endParaRPr sz="1050" b="0">
              <a:solidFill>
                <a:srgbClr val="F3F7F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21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航天精神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载人任务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21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953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载人航天精神，强调的是在极端任务中把难事做成的能力</a:t>
            </a:r>
            <a:endParaRPr sz="255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286000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2286000"/>
            <a:ext cx="2409825" cy="47625"/>
          </a:xfrm>
          <a:prstGeom prst="rect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特别能吃苦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14400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长期准备，不靠一时兴奋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3314700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696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载人航天没有“临场发挥式成功”，只有年复一年的积累和打磨。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286125" y="2286000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286125" y="2286000"/>
            <a:ext cx="2409825" cy="47625"/>
          </a:xfrm>
          <a:prstGeom prst="rect">
            <a:avLst/>
          </a:prstGeom>
          <a:solidFill>
            <a:srgbClr val="75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457575" y="2419350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特别能战斗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457575" y="2667000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关键窗口不允许掉链子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457575" y="3314700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58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发射、对接、出舱、返回，每一个关键时刻都需要团队顶得上。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42950" y="3781425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42950" y="3781425"/>
            <a:ext cx="2409825" cy="47625"/>
          </a:xfrm>
          <a:prstGeom prst="rect">
            <a:avLst/>
          </a:prstGeom>
          <a:solidFill>
            <a:srgbClr val="FF7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14400" y="391477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特别能攻关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416242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真正的难题总在边界处出现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14400" y="4810125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58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极端环境中的工程，几乎注定会碰到新问题，攻关能力决定天花板。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3286125" y="3781425"/>
            <a:ext cx="2409825" cy="1362075"/>
          </a:xfrm>
          <a:prstGeom prst="roundRect">
            <a:avLst>
              <a:gd name="adj" fmla="val 5594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286125" y="3781425"/>
            <a:ext cx="2409825" cy="47625"/>
          </a:xfrm>
          <a:prstGeom prst="rect">
            <a:avLst/>
          </a:prstGeom>
          <a:solidFill>
            <a:srgbClr val="8FE2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457575" y="3914775"/>
            <a:ext cx="2066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特别能奉献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457575" y="4162425"/>
            <a:ext cx="20669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载人航天从来不是某一个人的胜利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457575" y="4810125"/>
            <a:ext cx="20669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55589"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看见的是航天员，背后站着的是无数工程师、科研人员和保障团队。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42950" y="5334000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14400" y="5448300"/>
            <a:ext cx="4610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宇航员在太空中的生活方式，最终反映的不是个人技巧，而是一个任务体系能否长期稳定地支撑人进入太空、利用太空、返回地球。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096000" y="1466850"/>
            <a:ext cx="4953000" cy="3752850"/>
          </a:xfrm>
          <a:prstGeom prst="roundRect">
            <a:avLst>
              <a:gd name="adj" fmla="val 2030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2035969"/>
            <a:ext cx="4648200" cy="2614613"/>
          </a:xfrm>
          <a:prstGeom prst="rect">
            <a:avLst/>
          </a:prstGeom>
        </p:spPr>
      </p:pic>
      <p:sp>
        <p:nvSpPr>
          <p:cNvPr id="52" name="圆角矩形 51"/>
          <p:cNvSpPr>
            <a:spLocks noGrp="1"/>
          </p:cNvSpPr>
          <p:nvPr/>
        </p:nvSpPr>
        <p:spPr>
          <a:xfrm>
            <a:off x="6096000" y="5314950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248400" y="5429250"/>
            <a:ext cx="4648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载人航天精神通常概括为四个“特别能”。这不是抽象口号，而是高风险任务对团队能力、组织纪律和长期投入的真实要求。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22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精神谱系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传承延展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22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143000"/>
            <a:ext cx="4762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F4F8FF"/>
                </a:solidFill>
              </a:defRPr>
            </a:pPr>
            <a:r>
              <a:rPr sz="2400" b="1">
                <a:solidFill>
                  <a:srgbClr val="F4F8FF"/>
                </a:solidFill>
              </a:rPr>
              <a:t>中国航天的发展，也形成了随着任务升级不断延展的精神谱系</a:t>
            </a:r>
            <a:endParaRPr sz="2400" b="1">
              <a:solidFill>
                <a:srgbClr val="F4F8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2950" y="2286000"/>
            <a:ext cx="4762500" cy="590550"/>
          </a:xfrm>
          <a:prstGeom prst="roundRect">
            <a:avLst>
              <a:gd name="adj" fmla="val 129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2400300"/>
            <a:ext cx="1257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两弹一星精神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247900" y="2400300"/>
            <a:ext cx="3086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D0DCF0"/>
                </a:solidFill>
              </a:defRPr>
            </a:pPr>
            <a:r>
              <a:rPr sz="900" b="0">
                <a:solidFill>
                  <a:srgbClr val="D0DCF0"/>
                </a:solidFill>
              </a:rPr>
              <a:t>热爱祖国、无私奉献、自力更生、艰苦奋斗，为中国航天打下早期精神底色。</a:t>
            </a:r>
            <a:endParaRPr sz="900" b="0">
              <a:solidFill>
                <a:srgbClr val="D0DCF0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42950" y="2990850"/>
            <a:ext cx="4762500" cy="590550"/>
          </a:xfrm>
          <a:prstGeom prst="roundRect">
            <a:avLst>
              <a:gd name="adj" fmla="val 129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3105150"/>
            <a:ext cx="1257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载人航天精神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247900" y="3105150"/>
            <a:ext cx="3086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D0DCF0"/>
                </a:solidFill>
              </a:defRPr>
            </a:pPr>
            <a:r>
              <a:rPr sz="900" b="0">
                <a:solidFill>
                  <a:srgbClr val="D0DCF0"/>
                </a:solidFill>
              </a:rPr>
              <a:t>特别能吃苦、特别能战斗、特别能攻关、特别能奉献，把高风险任务的组织要求沉淀成系统方法。</a:t>
            </a:r>
            <a:endParaRPr sz="900" b="0">
              <a:solidFill>
                <a:srgbClr val="D0DCF0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42950" y="3695700"/>
            <a:ext cx="4762500" cy="590550"/>
          </a:xfrm>
          <a:prstGeom prst="roundRect">
            <a:avLst>
              <a:gd name="adj" fmla="val 129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14400" y="3810000"/>
            <a:ext cx="1257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探月精神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247900" y="3810000"/>
            <a:ext cx="3086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D0DCF0"/>
                </a:solidFill>
              </a:defRPr>
            </a:pPr>
            <a:r>
              <a:rPr sz="900" b="0">
                <a:solidFill>
                  <a:srgbClr val="D0DCF0"/>
                </a:solidFill>
              </a:rPr>
              <a:t>追逐梦想、勇于探索、协同攻坚、合作共赢，把中国航天从近地轨道推向更远空间。</a:t>
            </a:r>
            <a:endParaRPr sz="900" b="0">
              <a:solidFill>
                <a:srgbClr val="D0DCF0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42950" y="4400550"/>
            <a:ext cx="4762500" cy="590550"/>
          </a:xfrm>
          <a:prstGeom prst="roundRect">
            <a:avLst>
              <a:gd name="adj" fmla="val 12903"/>
            </a:avLst>
          </a:prstGeom>
          <a:solidFill>
            <a:srgbClr val="1A315A">
              <a:alpha val="94902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14400" y="4514850"/>
            <a:ext cx="1257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7B44A"/>
                </a:solidFill>
              </a:defRPr>
            </a:pPr>
            <a:r>
              <a:rPr sz="1200" b="1">
                <a:solidFill>
                  <a:srgbClr val="F7B44A"/>
                </a:solidFill>
              </a:rPr>
              <a:t>新时代北斗精神</a:t>
            </a:r>
            <a:endParaRPr sz="1200" b="1">
              <a:solidFill>
                <a:srgbClr val="F7B44A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247900" y="4514850"/>
            <a:ext cx="3086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D0DCF0"/>
                </a:solidFill>
              </a:defRPr>
            </a:pPr>
            <a:r>
              <a:rPr sz="900" b="0">
                <a:solidFill>
                  <a:srgbClr val="D0DCF0"/>
                </a:solidFill>
              </a:rPr>
              <a:t>自主创新、开放融合、万众一心、追求卓越，体现航天能力向国家基础设施和社会应用延展。</a:t>
            </a:r>
            <a:endParaRPr sz="900" b="0">
              <a:solidFill>
                <a:srgbClr val="D0DCF0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42950" y="5143500"/>
            <a:ext cx="4762500" cy="514350"/>
          </a:xfrm>
          <a:prstGeom prst="roundRect">
            <a:avLst>
              <a:gd name="adj" fmla="val 14815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5257800"/>
            <a:ext cx="4419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474"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精神谱系不是孤立背诵的口号，而是不同时代在面对不同任务时形成的共同价值取向和工作作风。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42950" y="5772150"/>
            <a:ext cx="10306050" cy="400050"/>
          </a:xfrm>
          <a:prstGeom prst="roundRect">
            <a:avLst>
              <a:gd name="adj" fmla="val 19048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14400" y="5886450"/>
            <a:ext cx="9963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从两弹一星到载人航天、探月工程和北斗系统，航天精神并不是单一口号，而是一条随着任务升级不断扩展的精神谱系。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5962650" y="1524000"/>
            <a:ext cx="2362200" cy="1409700"/>
          </a:xfrm>
          <a:prstGeom prst="roundRect">
            <a:avLst>
              <a:gd name="adj" fmla="val 540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0" y="1657350"/>
            <a:ext cx="2032000" cy="1143000"/>
          </a:xfrm>
          <a:prstGeom prst="rect">
            <a:avLst/>
          </a:prstGeom>
        </p:spPr>
      </p:pic>
      <p:sp>
        <p:nvSpPr>
          <p:cNvPr id="46" name="圆角矩形 45"/>
          <p:cNvSpPr>
            <a:spLocks noGrp="1"/>
          </p:cNvSpPr>
          <p:nvPr/>
        </p:nvSpPr>
        <p:spPr>
          <a:xfrm>
            <a:off x="5962650" y="3028950"/>
            <a:ext cx="2362200" cy="457200"/>
          </a:xfrm>
          <a:prstGeom prst="roundRect">
            <a:avLst>
              <a:gd name="adj" fmla="val 16667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115050" y="31432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23"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两弹一星精神：国家起步阶段的奠基力量。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8477250" y="1524000"/>
            <a:ext cx="2362200" cy="1409700"/>
          </a:xfrm>
          <a:prstGeom prst="roundRect">
            <a:avLst>
              <a:gd name="adj" fmla="val 540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350" y="1657350"/>
            <a:ext cx="2032000" cy="1143000"/>
          </a:xfrm>
          <a:prstGeom prst="rect">
            <a:avLst/>
          </a:prstGeom>
        </p:spPr>
      </p:pic>
      <p:sp>
        <p:nvSpPr>
          <p:cNvPr id="50" name="圆角矩形 49"/>
          <p:cNvSpPr>
            <a:spLocks noGrp="1"/>
          </p:cNvSpPr>
          <p:nvPr/>
        </p:nvSpPr>
        <p:spPr>
          <a:xfrm>
            <a:off x="8477250" y="3028950"/>
            <a:ext cx="2362200" cy="457200"/>
          </a:xfrm>
          <a:prstGeom prst="roundRect">
            <a:avLst>
              <a:gd name="adj" fmla="val 16667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629650" y="31432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23"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载人航天精神：高风险任务中的团队纪律与攻关能力。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5962650" y="3657600"/>
            <a:ext cx="2362200" cy="1409700"/>
          </a:xfrm>
          <a:prstGeom prst="roundRect">
            <a:avLst>
              <a:gd name="adj" fmla="val 540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0" y="3790950"/>
            <a:ext cx="2032000" cy="1143000"/>
          </a:xfrm>
          <a:prstGeom prst="rect">
            <a:avLst/>
          </a:prstGeom>
        </p:spPr>
      </p:pic>
      <p:sp>
        <p:nvSpPr>
          <p:cNvPr id="54" name="圆角矩形 53"/>
          <p:cNvSpPr>
            <a:spLocks noGrp="1"/>
          </p:cNvSpPr>
          <p:nvPr/>
        </p:nvSpPr>
        <p:spPr>
          <a:xfrm>
            <a:off x="5962650" y="5162550"/>
            <a:ext cx="2362200" cy="457200"/>
          </a:xfrm>
          <a:prstGeom prst="roundRect">
            <a:avLst>
              <a:gd name="adj" fmla="val 16667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115050" y="52768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711"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探月精神：面向深空目标的探索气质。</a:t>
            </a:r>
            <a:endParaRPr sz="975" b="0">
              <a:solidFill>
                <a:srgbClr val="DDE8F7"/>
              </a:solidFill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8477250" y="3657600"/>
            <a:ext cx="2362200" cy="1409700"/>
          </a:xfrm>
          <a:prstGeom prst="roundRect">
            <a:avLst>
              <a:gd name="adj" fmla="val 5405"/>
            </a:avLst>
          </a:prstGeom>
          <a:solidFill>
            <a:srgbClr val="081120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350" y="3790950"/>
            <a:ext cx="2032000" cy="1143000"/>
          </a:xfrm>
          <a:prstGeom prst="rect">
            <a:avLst/>
          </a:prstGeom>
        </p:spPr>
      </p:pic>
      <p:sp>
        <p:nvSpPr>
          <p:cNvPr id="58" name="圆角矩形 57"/>
          <p:cNvSpPr>
            <a:spLocks noGrp="1"/>
          </p:cNvSpPr>
          <p:nvPr/>
        </p:nvSpPr>
        <p:spPr>
          <a:xfrm>
            <a:off x="8477250" y="5162550"/>
            <a:ext cx="2362200" cy="457200"/>
          </a:xfrm>
          <a:prstGeom prst="roundRect">
            <a:avLst>
              <a:gd name="adj" fmla="val 16667"/>
            </a:avLst>
          </a:prstGeom>
          <a:solidFill>
            <a:srgbClr val="203559">
              <a:alpha val="91765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8629650" y="52768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23"/>
          </a:bodyPr>
          <a:lstStyle/>
          <a:p>
            <a:pPr algn="l">
              <a:defRPr sz="975" b="0">
                <a:solidFill>
                  <a:srgbClr val="DDE8F7"/>
                </a:solidFill>
              </a:defRPr>
            </a:pPr>
            <a:r>
              <a:rPr sz="975" b="0">
                <a:solidFill>
                  <a:srgbClr val="DDE8F7"/>
                </a:solidFill>
              </a:rPr>
              <a:t>新时代北斗精神：把航天能力转化为国家级基础设施。</a:t>
            </a:r>
            <a:endParaRPr sz="975" b="0">
              <a:solidFill>
                <a:srgbClr val="DDE8F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-1143000"/>
            <a:ext cx="4476750" cy="3429000"/>
          </a:xfrm>
          <a:prstGeom prst="ellipse">
            <a:avLst/>
          </a:prstGeom>
          <a:solidFill>
            <a:srgbClr val="75D8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-1047750"/>
            <a:ext cx="3429000" cy="2476500"/>
          </a:xfrm>
          <a:prstGeom prst="ellipse">
            <a:avLst/>
          </a:prstGeom>
          <a:solidFill>
            <a:srgbClr val="F7B44A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0" y="4000500"/>
            <a:ext cx="3048000" cy="2476500"/>
          </a:xfrm>
          <a:prstGeom prst="ellipse">
            <a:avLst/>
          </a:prstGeom>
          <a:solidFill>
            <a:srgbClr val="FF765E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2857500" y="5143500"/>
            <a:ext cx="2476500" cy="1714500"/>
          </a:xfrm>
          <a:prstGeom prst="ellipse">
            <a:avLst/>
          </a:prstGeom>
          <a:solidFill>
            <a:srgbClr val="8FE2BB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4476750" y="0"/>
            <a:ext cx="2095500" cy="1143000"/>
          </a:xfrm>
          <a:prstGeom prst="ellipse">
            <a:avLst/>
          </a:prstGeom>
          <a:solidFill>
            <a:srgbClr val="6DBB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76300" y="11430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19250" y="6000750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71800" y="78105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171950" y="56388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572125" y="10668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6915150" y="58483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448675" y="8001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220200" y="521970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706100" y="1676400"/>
            <a:ext cx="19050" cy="19050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11315700" y="4857750"/>
            <a:ext cx="28575" cy="28575"/>
          </a:xfrm>
          <a:prstGeom prst="ellipse">
            <a:avLst/>
          </a:prstGeom>
          <a:solidFill>
            <a:srgbClr val="FFFFFF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0050" y="247650"/>
            <a:ext cx="11391900" cy="6362700"/>
          </a:xfrm>
          <a:prstGeom prst="roundRect">
            <a:avLst>
              <a:gd name="adj" fmla="val 1198"/>
            </a:avLst>
          </a:prstGeom>
          <a:solidFill>
            <a:srgbClr val="162A52">
              <a:alpha val="94118"/>
            </a:srgbClr>
          </a:solidFill>
          <a:ln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247650"/>
            <a:ext cx="11391900" cy="1905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96550" y="400050"/>
            <a:ext cx="971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0" b="1">
                <a:solidFill>
                  <a:srgbClr val="FFFFFF">
                    <a:alpha val="6275"/>
                  </a:srgbClr>
                </a:solidFill>
              </a:defRPr>
            </a:pPr>
            <a:r>
              <a:rPr sz="5250" b="1">
                <a:solidFill>
                  <a:srgbClr val="FFFFFF">
                    <a:alpha val="6275"/>
                  </a:srgbClr>
                </a:solidFill>
              </a:rPr>
              <a:t>23</a:t>
            </a:r>
            <a:endParaRPr sz="5250" b="1">
              <a:solidFill>
                <a:srgbClr val="FFFFFF">
                  <a:alpha val="6275"/>
                </a:srgbClr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295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A2E3A">
              <a:alpha val="5019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B44A"/>
                </a:solidFill>
              </a:defRPr>
            </a:pPr>
            <a:r>
              <a:rPr sz="975" b="1">
                <a:solidFill>
                  <a:srgbClr val="F7B44A"/>
                </a:solidFill>
              </a:rPr>
              <a:t>总结</a:t>
            </a:r>
            <a:endParaRPr sz="975" b="1">
              <a:solidFill>
                <a:srgbClr val="F7B4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96500" y="5524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F2747">
              <a:alpha val="50196"/>
            </a:srgbClr>
          </a:solidFill>
          <a:ln w="9525">
            <a:solidFill>
              <a:srgbClr val="75D8FF">
                <a:alpha val="13333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67950" y="6191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FF6FF"/>
                </a:solidFill>
              </a:defRPr>
            </a:pPr>
            <a:r>
              <a:rPr sz="975" b="1">
                <a:solidFill>
                  <a:srgbClr val="DFF6FF"/>
                </a:solidFill>
              </a:rPr>
              <a:t>三点结论</a:t>
            </a:r>
            <a:endParaRPr sz="975" b="1">
              <a:solidFill>
                <a:srgbClr val="DFF6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6362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A8B9D4"/>
                </a:solidFill>
              </a:defRPr>
            </a:pPr>
            <a:r>
              <a:rPr sz="750" b="0">
                <a:solidFill>
                  <a:srgbClr val="A8B9D4"/>
                </a:solidFill>
              </a:rPr>
              <a:t>23 / 23</a:t>
            </a:r>
            <a:endParaRPr sz="750" b="0">
              <a:solidFill>
                <a:srgbClr val="A8B9D4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95350" y="1143000"/>
            <a:ext cx="10401300" cy="4762500"/>
          </a:xfrm>
          <a:prstGeom prst="roundRect">
            <a:avLst>
              <a:gd name="adj" fmla="val 1600"/>
            </a:avLst>
          </a:prstGeom>
          <a:solidFill>
            <a:srgbClr val="0C1730">
              <a:alpha val="98039"/>
            </a:srgbClr>
          </a:solidFill>
          <a:ln w="9525">
            <a:solidFill>
              <a:srgbClr val="1A2E5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38250" y="1466850"/>
            <a:ext cx="3238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4F8FF"/>
                </a:solidFill>
              </a:defRPr>
            </a:pPr>
            <a:r>
              <a:rPr sz="3150" b="1">
                <a:solidFill>
                  <a:srgbClr val="F4F8FF"/>
                </a:solidFill>
              </a:rPr>
              <a:t>三点结论</a:t>
            </a:r>
            <a:endParaRPr sz="3150" b="1">
              <a:solidFill>
                <a:srgbClr val="F4F8FF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238250" y="2571750"/>
            <a:ext cx="2933700" cy="1790700"/>
          </a:xfrm>
          <a:prstGeom prst="roundRect">
            <a:avLst>
              <a:gd name="adj" fmla="val 425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238250" y="2571750"/>
            <a:ext cx="2933700" cy="47625"/>
          </a:xfrm>
          <a:prstGeom prst="rect">
            <a:avLst/>
          </a:prstGeom>
          <a:solidFill>
            <a:srgbClr val="F7B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09700" y="2705100"/>
            <a:ext cx="2590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1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409700" y="2952750"/>
            <a:ext cx="2590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宇航员不是“漂在天上的人”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409700" y="3600450"/>
            <a:ext cx="2590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他们是极端环境里的系统操作员，必须靠训练、流程和装备一起工作。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4457700" y="2571750"/>
            <a:ext cx="2933700" cy="1790700"/>
          </a:xfrm>
          <a:prstGeom prst="roundRect">
            <a:avLst>
              <a:gd name="adj" fmla="val 425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457700" y="2571750"/>
            <a:ext cx="2933700" cy="47625"/>
          </a:xfrm>
          <a:prstGeom prst="rect">
            <a:avLst/>
          </a:prstGeom>
          <a:solidFill>
            <a:srgbClr val="75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629150" y="2705100"/>
            <a:ext cx="2590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2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629150" y="2952750"/>
            <a:ext cx="2590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太空生活的本质是重新设计日常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629150" y="3600450"/>
            <a:ext cx="2590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吃饭、睡觉、如厕、锻炼、实验和返回，每一项都需要围绕微重力重做一遍。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677150" y="2571750"/>
            <a:ext cx="2933700" cy="1790700"/>
          </a:xfrm>
          <a:prstGeom prst="roundRect">
            <a:avLst>
              <a:gd name="adj" fmla="val 4255"/>
            </a:avLst>
          </a:prstGeom>
          <a:solidFill>
            <a:srgbClr val="203A68">
              <a:alpha val="95686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677150" y="2571750"/>
            <a:ext cx="2933700" cy="47625"/>
          </a:xfrm>
          <a:prstGeom prst="rect">
            <a:avLst/>
          </a:prstGeom>
          <a:solidFill>
            <a:srgbClr val="FF76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848600" y="2705100"/>
            <a:ext cx="2590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75D8FF"/>
                </a:solidFill>
              </a:defRPr>
            </a:pPr>
            <a:r>
              <a:rPr sz="900" b="1">
                <a:solidFill>
                  <a:srgbClr val="75D8FF"/>
                </a:solidFill>
              </a:rPr>
              <a:t>3</a:t>
            </a:r>
            <a:endParaRPr sz="900" b="1">
              <a:solidFill>
                <a:srgbClr val="75D8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848600" y="2952750"/>
            <a:ext cx="2590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每一次平安往返，背后都是国家能力</a:t>
            </a:r>
            <a:endParaRPr sz="1650" b="1">
              <a:solidFill>
                <a:srgbClr val="F4F8FF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848600" y="3600450"/>
            <a:ext cx="2590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D0DCF0"/>
                </a:solidFill>
              </a:defRPr>
            </a:pPr>
            <a:r>
              <a:rPr sz="1050" b="0">
                <a:solidFill>
                  <a:srgbClr val="D0DCF0"/>
                </a:solidFill>
              </a:rPr>
              <a:t>从火箭到飞船，从空间站到回收体系，再到团队精神，这是一整套系统工程。</a:t>
            </a:r>
            <a:endParaRPr sz="1050" b="0">
              <a:solidFill>
                <a:srgbClr val="D0DCF0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1238250" y="4762500"/>
            <a:ext cx="8724900" cy="704850"/>
          </a:xfrm>
          <a:prstGeom prst="roundRect">
            <a:avLst>
              <a:gd name="adj" fmla="val 10811"/>
            </a:avLst>
          </a:prstGeom>
          <a:solidFill>
            <a:srgbClr val="F7B44A">
              <a:alpha val="7843"/>
            </a:srgbClr>
          </a:solidFill>
          <a:ln w="9525">
            <a:solidFill>
              <a:srgbClr val="F7B44A">
                <a:alpha val="14118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409700" y="4876800"/>
            <a:ext cx="838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F3F7FE"/>
                </a:solidFill>
              </a:defRPr>
            </a:pPr>
            <a:r>
              <a:rPr sz="1050" b="0">
                <a:solidFill>
                  <a:srgbClr val="F3F7FE"/>
                </a:solidFill>
              </a:rPr>
              <a:t>从火箭起飞到返回回收，从航天历史到精神谱系，载人航天展示的是一种把高风险任务长期、稳定、成体系完成的能力。</a:t>
            </a:r>
            <a:endParaRPr sz="1050" b="0">
              <a:solidFill>
                <a:srgbClr val="F3F7FE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38250" y="5638800"/>
            <a:ext cx="8724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A8B9D4"/>
                </a:solidFill>
              </a:defRPr>
            </a:pPr>
            <a:r>
              <a:rPr sz="900" b="0">
                <a:solidFill>
                  <a:srgbClr val="A8B9D4"/>
                </a:solidFill>
              </a:rPr>
              <a:t>从火箭起飞到返回回收，从航天历史到精神谱系，这场汇报真正想说明的是：载人航天是一种把高风险任务长期、稳定、成体系完成的能力。</a:t>
            </a:r>
            <a:endParaRPr sz="900" b="0">
              <a:solidFill>
                <a:srgbClr val="A8B9D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7230</Words>
  <Application>WPS 演示</Application>
  <PresentationFormat>Converted Presentation</PresentationFormat>
  <Paragraphs>884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leo</cp:lastModifiedBy>
  <cp:revision>1</cp:revision>
  <dcterms:created xsi:type="dcterms:W3CDTF">2026-04-18T11:01:38Z</dcterms:created>
  <dcterms:modified xsi:type="dcterms:W3CDTF">2026-04-18T11:01:38Z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BBB012674FBE43A09AE63B1BC1C2516E_12</vt:lpwstr>
  </property>
  <property fmtid="{D5CDD505-2E9C-101B-9397-08002B2CF9AE}" pid="3" name="KSOProductBuildVer">
    <vt:lpwstr>2052-12.1.0.25865</vt:lpwstr>
  </property>
</Properties>
</file>