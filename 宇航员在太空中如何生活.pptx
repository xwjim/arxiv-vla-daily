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6.6.6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6" id="256"/>
    <p:sldId r:id="rId7" id="257"/>
    <p:sldId r:id="rId8" id="258"/>
    <p:sldId r:id="rId9" id="259"/>
    <p:sldId r:id="rId10" id="260"/>
    <p:sldId r:id="rId11" id="261"/>
    <p:sldId r:id="rId12" id="262"/>
    <p:sldId r:id="rId13" id="263"/>
    <p:sldId r:id="rId14" id="264"/>
    <p:sldId r:id="rId15" id="265"/>
    <p:sldId r:id="rId16" id="266"/>
    <p:sldId r:id="rId17" id="267"/>
    <p:sldId r:id="rId18" id="268"/>
    <p:sldId r:id="rId19" id="269"/>
    <p:sldId r:id="rId20" id="270"/>
    <p:sldId r:id="rId21" id="271"/>
    <p:sldId r:id="rId22" id="272"/>
    <p:sldId r:id="rId23" id="273"/>
    <p:sldId r:id="rId24" id="274"/>
    <p:sldId r:id="rId25" id="275"/>
    <p:sldId r:id="rId26" id="276"/>
    <p:sldId r:id="rId27" id="277"/>
    <p:sldId r:id="rId28" id="278"/>
    <p:sldId r:id="rId29" id="279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presProps" Target="presProp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tags" Target="tags/tag1.xml" /><Relationship Id="rId4" Type="http://schemas.openxmlformats.org/officeDocument/2006/relationships/theme" Target="theme/theme1.xml" /><Relationship Id="rId5" Type="http://schemas.openxmlformats.org/officeDocument/2006/relationships/tableStyles" Target="tableStyles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15.jpeg" /><Relationship Id="rId4" Type="http://schemas.openxmlformats.org/officeDocument/2006/relationships/image" Target="../media/image16.jpeg" /><Relationship Id="rId5" Type="http://schemas.openxmlformats.org/officeDocument/2006/relationships/image" Target="../media/image17.jpeg" /><Relationship Id="rId6" Type="http://schemas.openxmlformats.org/officeDocument/2006/relationships/image" Target="../media/image18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jpe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4.jpeg" /><Relationship Id="rId4" Type="http://schemas.openxmlformats.org/officeDocument/2006/relationships/image" Target="../media/image5.jpeg" /><Relationship Id="rId5" Type="http://schemas.openxmlformats.org/officeDocument/2006/relationships/image" Target="../media/image6.jpe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7.jpe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jpe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8.jpeg" /><Relationship Id="rId4" Type="http://schemas.openxmlformats.org/officeDocument/2006/relationships/image" Target="../media/image9.jpeg" /><Relationship Id="rId5" Type="http://schemas.openxmlformats.org/officeDocument/2006/relationships/image" Target="../media/image10.jpe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jpe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11.jpeg" /><Relationship Id="rId4" Type="http://schemas.openxmlformats.org/officeDocument/2006/relationships/image" Target="../media/image12.jpeg" /><Relationship Id="rId5" Type="http://schemas.openxmlformats.org/officeDocument/2006/relationships/image" Target="../media/image1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Relationship Id="rId3" Type="http://schemas.openxmlformats.org/officeDocument/2006/relationships/image" Target="../media/image14.jpe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jpe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jpe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9816" y="1127918"/>
            <a:ext cx="9829800" cy="210502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宇航员在太空中如何生活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0760" y="0"/>
            <a:ext cx="2809137" cy="3421221"/>
          </a:xfrm>
          <a:prstGeom prst="rect"/>
          <a:gradFill>
            <a:gsLst>
              <a:gs pos="0">
                <a:schemeClr val="accent2">
                  <a:alpha val="75000"/>
                </a:schemeClr>
              </a:gs>
              <a:gs pos="100000">
                <a:schemeClr val="lt1">
                  <a:alpha val="75000"/>
                </a:schemeClr>
              </a:gs>
            </a:gsLst>
            <a:lin ang="16200000"/>
            <a:tileRect/>
          </a:gradFill>
        </p:spPr>
      </p:sp>
      <p:sp>
        <p:nvSpPr>
          <p:cNvPr id="3" name="AutoShape 3"/>
          <p:cNvSpPr/>
          <p:nvPr/>
        </p:nvSpPr>
        <p:spPr>
          <a:xfrm>
            <a:off x="1140760" y="1983274"/>
            <a:ext cx="2809137" cy="2809137"/>
          </a:xfrm>
          <a:prstGeom prst="ellipse"/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  <a:lumMod val="60000"/>
                  <a:lumOff val="40000"/>
                </a:schemeClr>
              </a:gs>
            </a:gsLst>
            <a:lin ang="0"/>
            <a:tileRect/>
          </a:gradFill>
        </p:spPr>
      </p:sp>
      <p:sp>
        <p:nvSpPr>
          <p:cNvPr id="4" name="TextBox 4"/>
          <p:cNvSpPr txBox="1"/>
          <p:nvPr/>
        </p:nvSpPr>
        <p:spPr>
          <a:xfrm>
            <a:off x="1884456" y="2656540"/>
            <a:ext cx="2004496" cy="614934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74000"/>
              </a:lnSpc>
              <a:spcBef>
                <a:spcPct val="0"/>
              </a:spcBef>
            </a:pPr>
            <a:r>
              <a:rPr lang="en-US" sz="1350" dirty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  <a:cs typeface="Microsoft Yahei"/>
              </a:rPr>
              <a:t>CATALOGUE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672" y="2818600"/>
            <a:ext cx="1766929" cy="1834896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74000"/>
              </a:lnSpc>
            </a:pPr>
            <a:r>
              <a:rPr lang="en-US" sz="577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44782" y="1304925"/>
            <a:ext cx="5981700" cy="42481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宇航员选拔与训练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宇航员在太空中的生活环境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宇航员在太空中的工作与任务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宇航员返回地球的流程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宇航员在太空中的健康与安全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198500" y="2897445"/>
            <a:ext cx="0" cy="130951"/>
          </a:xfrm>
          <a:prstGeom prst="line"/>
          <a:ln w="9525">
            <a:solidFill>
              <a:srgbClr val="FFFFFF">
                <a:alpha val="100000"/>
              </a:srgbClr>
            </a:solidFill>
            <a:prstDash val="solid"/>
          </a:ln>
        </p:spPr>
      </p:cxnSp>
      <p:cxnSp>
        <p:nvCxnSpPr>
          <p:cNvPr id="8" name="Connector 8"/>
          <p:cNvCxnSpPr/>
          <p:nvPr/>
        </p:nvCxnSpPr>
        <p:spPr>
          <a:xfrm>
            <a:off x="1823497" y="2897445"/>
            <a:ext cx="0" cy="130951"/>
          </a:xfrm>
          <a:prstGeom prst="line"/>
          <a:ln w="9525">
            <a:solidFill>
              <a:srgbClr val="FFFFFF">
                <a:alpha val="100000"/>
              </a:srgbClr>
            </a:solidFill>
            <a:prstDash val="solid"/>
          </a:ln>
        </p:spPr>
      </p:cxnSp>
      <p:sp>
        <p:nvSpPr>
          <p:cNvPr id="9" name="AutoShape 9"/>
          <p:cNvSpPr/>
          <p:nvPr/>
        </p:nvSpPr>
        <p:spPr>
          <a:xfrm>
            <a:off x="611546" y="2481967"/>
            <a:ext cx="259567" cy="1408741"/>
          </a:xfrm>
          <a:prstGeom prst="rect"/>
          <a:gradFill>
            <a:gsLst>
              <a:gs pos="0">
                <a:schemeClr val="accent2">
                  <a:alpha val="51000"/>
                </a:schemeClr>
              </a:gs>
              <a:gs pos="100000">
                <a:schemeClr val="lt1">
                  <a:alpha val="51000"/>
                </a:schemeClr>
              </a:gs>
            </a:gsLst>
            <a:lin ang="5400000"/>
            <a:tileRect/>
          </a:gradFill>
        </p:spPr>
      </p:sp>
      <p:sp>
        <p:nvSpPr>
          <p:cNvPr id="10" name="AutoShape 10"/>
          <p:cNvSpPr/>
          <p:nvPr/>
        </p:nvSpPr>
        <p:spPr>
          <a:xfrm>
            <a:off x="611546" y="2352184"/>
            <a:ext cx="259567" cy="259567"/>
          </a:xfrm>
          <a:prstGeom prst="ellipse"/>
          <a:solidFill>
            <a:schemeClr val="accent2">
              <a:lumMod val="40000"/>
              <a:lumOff val="60000"/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-1022221" y="4869455"/>
            <a:ext cx="1813010" cy="1813010"/>
          </a:xfrm>
          <a:prstGeom prst="ellipse"/>
          <a:gradFill>
            <a:gsLst>
              <a:gs pos="0">
                <a:schemeClr val="accent2">
                  <a:alpha val="27000"/>
                </a:schemeClr>
              </a:gs>
              <a:gs pos="100000">
                <a:schemeClr val="accent2">
                  <a:alpha val="27000"/>
                  <a:lumMod val="40000"/>
                  <a:lumOff val="60000"/>
                </a:schemeClr>
              </a:gs>
            </a:gsLst>
            <a:lin ang="0"/>
            <a:tileRect/>
          </a:gradFill>
        </p:spPr>
      </p:sp>
      <p:sp>
        <p:nvSpPr>
          <p:cNvPr id="12" name="AutoShape 12"/>
          <p:cNvSpPr/>
          <p:nvPr/>
        </p:nvSpPr>
        <p:spPr>
          <a:xfrm>
            <a:off x="4298477" y="0"/>
            <a:ext cx="668835" cy="1915360"/>
          </a:xfrm>
          <a:prstGeom prst="rect"/>
          <a:gradFill>
            <a:gsLst>
              <a:gs pos="0">
                <a:schemeClr val="accent2">
                  <a:alpha val="62000"/>
                </a:schemeClr>
              </a:gs>
              <a:gs pos="100000">
                <a:schemeClr val="lt1">
                  <a:alpha val="62000"/>
                </a:schemeClr>
              </a:gs>
            </a:gsLst>
            <a:lin ang="16200000"/>
            <a:tileRect/>
          </a:gradFill>
        </p:spPr>
      </p:sp>
      <p:sp>
        <p:nvSpPr>
          <p:cNvPr id="13" name="AutoShape 13"/>
          <p:cNvSpPr/>
          <p:nvPr/>
        </p:nvSpPr>
        <p:spPr>
          <a:xfrm>
            <a:off x="4298477" y="1580942"/>
            <a:ext cx="668835" cy="668835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10066688" y="5912672"/>
            <a:ext cx="531248" cy="531248"/>
          </a:xfrm>
          <a:prstGeom prst="ellipse"/>
          <a:gradFill>
            <a:gsLst>
              <a:gs pos="0">
                <a:schemeClr val="accent2">
                  <a:alpha val="59000"/>
                </a:schemeClr>
              </a:gs>
              <a:gs pos="100000">
                <a:schemeClr val="accent2">
                  <a:alpha val="59000"/>
                  <a:lumMod val="40000"/>
                  <a:lumOff val="60000"/>
                </a:schemeClr>
              </a:gs>
            </a:gsLst>
            <a:lin ang="0"/>
            <a:tileRect/>
          </a:gradFill>
        </p:spPr>
      </p:sp>
      <p:sp>
        <p:nvSpPr>
          <p:cNvPr id="15" name="AutoShape 15"/>
          <p:cNvSpPr/>
          <p:nvPr/>
        </p:nvSpPr>
        <p:spPr>
          <a:xfrm>
            <a:off x="10779576" y="-508283"/>
            <a:ext cx="2423643" cy="2423643"/>
          </a:xfrm>
          <a:prstGeom prst="ellipse"/>
          <a:gradFill>
            <a:gsLst>
              <a:gs pos="0">
                <a:schemeClr val="accent2">
                  <a:alpha val="27000"/>
                </a:schemeClr>
              </a:gs>
              <a:gs pos="100000">
                <a:schemeClr val="accent2">
                  <a:alpha val="27000"/>
                  <a:lumMod val="40000"/>
                  <a:lumOff val="60000"/>
                </a:schemeClr>
              </a:gs>
            </a:gsLst>
            <a:lin ang="0"/>
            <a:tileRect/>
          </a:gradFill>
        </p:spPr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623" y="1744442"/>
            <a:ext cx="950685" cy="826132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446458" y="1867338"/>
            <a:ext cx="3087014" cy="580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075" b="1" dirty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1305" y="2643681"/>
            <a:ext cx="8975750" cy="2104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宇航员选拔与训练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41061" y="1169291"/>
            <a:ext cx="2281112" cy="2281112"/>
          </a:xfrm>
          <a:prstGeom prst="ellipse"/>
          <a:solidFill>
            <a:schemeClr val="accent2">
              <a:lumMod val="75000"/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6177468" y="1976779"/>
            <a:ext cx="608297" cy="608297"/>
          </a:xfrm>
          <a:custGeom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4569827" y="2585076"/>
            <a:ext cx="1911789" cy="1911789"/>
          </a:xfrm>
          <a:prstGeom prst="ellipse"/>
          <a:solidFill>
            <a:schemeClr val="accent2">
              <a:lumMod val="60000"/>
              <a:lumOff val="40000"/>
              <a:alpha val="100000"/>
            </a:schemeClr>
          </a:solidFill>
        </p:spPr>
      </p:sp>
      <p:sp>
        <p:nvSpPr>
          <p:cNvPr id="5" name="Freeform 5"/>
          <p:cNvSpPr/>
          <p:nvPr/>
        </p:nvSpPr>
        <p:spPr>
          <a:xfrm>
            <a:off x="5156399" y="3235877"/>
            <a:ext cx="738646" cy="610186"/>
          </a:xfrm>
          <a:custGeom>
            <a:rect l="l" t="t" r="r" b="b"/>
            <a:pathLst>
              <a:path w="304800" h="304800">
                <a:moveTo>
                  <a:pt x="106680" y="0"/>
                </a:moveTo>
                <a:lnTo>
                  <a:pt x="91440" y="0"/>
                </a:lnTo>
                <a:lnTo>
                  <a:pt x="0" y="45720"/>
                </a:lnTo>
                <a:lnTo>
                  <a:pt x="0" y="137160"/>
                </a:lnTo>
                <a:lnTo>
                  <a:pt x="60960" y="121920"/>
                </a:lnTo>
                <a:lnTo>
                  <a:pt x="60960" y="304800"/>
                </a:lnTo>
                <a:lnTo>
                  <a:pt x="243840" y="304800"/>
                </a:lnTo>
                <a:lnTo>
                  <a:pt x="243840" y="121920"/>
                </a:lnTo>
                <a:lnTo>
                  <a:pt x="304800" y="137160"/>
                </a:lnTo>
                <a:lnTo>
                  <a:pt x="304800" y="45720"/>
                </a:lnTo>
                <a:lnTo>
                  <a:pt x="213360" y="0"/>
                </a:lnTo>
                <a:lnTo>
                  <a:pt x="198120" y="0"/>
                </a:lnTo>
                <a:cubicBezTo>
                  <a:pt x="198120" y="25251"/>
                  <a:pt x="177651" y="45720"/>
                  <a:pt x="152400" y="45720"/>
                </a:cubicBezTo>
                <a:cubicBezTo>
                  <a:pt x="127149" y="45720"/>
                  <a:pt x="106680" y="25251"/>
                  <a:pt x="106680" y="0"/>
                </a:cubicBezTo>
                <a:lnTo>
                  <a:pt x="10668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5905908" y="3792072"/>
            <a:ext cx="1520741" cy="1520741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7" name="Freeform 7"/>
          <p:cNvSpPr/>
          <p:nvPr/>
        </p:nvSpPr>
        <p:spPr>
          <a:xfrm>
            <a:off x="6301722" y="4207073"/>
            <a:ext cx="729113" cy="690739"/>
          </a:xfrm>
          <a:custGeom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5227005" y="4767462"/>
            <a:ext cx="1336080" cy="1336080"/>
          </a:xfrm>
          <a:prstGeom prst="ellipse"/>
          <a:solidFill>
            <a:schemeClr val="accent3">
              <a:lumMod val="60000"/>
              <a:lumOff val="40000"/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>
            <a:off x="5633397" y="5196504"/>
            <a:ext cx="523295" cy="477996"/>
          </a:xfrm>
          <a:custGeom>
            <a:rect l="l" t="t" r="r" b="b"/>
            <a:pathLst>
              <a:path w="304800" h="304800">
                <a:moveTo>
                  <a:pt x="285750" y="171450"/>
                </a:moveTo>
                <a:lnTo>
                  <a:pt x="266700" y="171450"/>
                </a:lnTo>
                <a:lnTo>
                  <a:pt x="266700" y="133350"/>
                </a:lnTo>
                <a:cubicBezTo>
                  <a:pt x="266700" y="70247"/>
                  <a:pt x="215503" y="19050"/>
                  <a:pt x="152400" y="19050"/>
                </a:cubicBezTo>
                <a:cubicBezTo>
                  <a:pt x="89297" y="19050"/>
                  <a:pt x="38100" y="70247"/>
                  <a:pt x="38100" y="133350"/>
                </a:cubicBezTo>
                <a:lnTo>
                  <a:pt x="38100" y="171450"/>
                </a:lnTo>
                <a:lnTo>
                  <a:pt x="19050" y="171450"/>
                </a:lnTo>
                <a:cubicBezTo>
                  <a:pt x="8525" y="171450"/>
                  <a:pt x="0" y="179975"/>
                  <a:pt x="0" y="190500"/>
                </a:cubicBezTo>
                <a:lnTo>
                  <a:pt x="0" y="266700"/>
                </a:lnTo>
                <a:cubicBezTo>
                  <a:pt x="0" y="277225"/>
                  <a:pt x="8525" y="285750"/>
                  <a:pt x="19050" y="285750"/>
                </a:cubicBezTo>
                <a:lnTo>
                  <a:pt x="76200" y="285750"/>
                </a:lnTo>
                <a:lnTo>
                  <a:pt x="76200" y="133350"/>
                </a:lnTo>
                <a:cubicBezTo>
                  <a:pt x="76200" y="91307"/>
                  <a:pt x="110357" y="57150"/>
                  <a:pt x="152400" y="57150"/>
                </a:cubicBezTo>
                <a:cubicBezTo>
                  <a:pt x="194443" y="57150"/>
                  <a:pt x="228600" y="91307"/>
                  <a:pt x="228600" y="133350"/>
                </a:cubicBezTo>
                <a:lnTo>
                  <a:pt x="228600" y="285750"/>
                </a:lnTo>
                <a:lnTo>
                  <a:pt x="285750" y="285750"/>
                </a:lnTo>
                <a:cubicBezTo>
                  <a:pt x="296275" y="285750"/>
                  <a:pt x="304800" y="277225"/>
                  <a:pt x="304800" y="266700"/>
                </a:cubicBezTo>
                <a:lnTo>
                  <a:pt x="304800" y="190500"/>
                </a:lnTo>
                <a:cubicBezTo>
                  <a:pt x="304800" y="179975"/>
                  <a:pt x="296275" y="171450"/>
                  <a:pt x="285750" y="1714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0" name="TextBox 10"/>
          <p:cNvSpPr txBox="1"/>
          <p:nvPr/>
        </p:nvSpPr>
        <p:spPr>
          <a:xfrm>
            <a:off x="8035748" y="1306554"/>
            <a:ext cx="4044911" cy="7315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教育背景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35748" y="1924551"/>
            <a:ext cx="3302539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宇航员通常需要具备高等学历，如硕士或博士学位，并且专业背景通常涉及工程、物理或生物等领域。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5748" y="3522491"/>
            <a:ext cx="3952667" cy="7315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心理素质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35748" y="4140488"/>
            <a:ext cx="3302539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具备冷静、果断、适应性强的心理素质，以应对太空中的各种挑战和紧急情况。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0539" y="4596774"/>
            <a:ext cx="3693982" cy="7315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经验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1981" y="5214771"/>
            <a:ext cx="3302539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有相关领域的从业经验，如飞行员、科研人员等，能够为宇航员在太空中的任务提供支持。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947" y="2524256"/>
            <a:ext cx="3741824" cy="7315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身体条件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9125" y="3142253"/>
            <a:ext cx="3445646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宇航员需要具备健康的身体和良好的耐受力，以应对长时间在太空中的生活和工作。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9" name="AutoShape 19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选拔标准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778" r="18778"/>
          <a:stretch>
            <a:fillRect/>
          </a:stretch>
        </p:blipFill>
        <p:spPr>
          <a:xfrm>
            <a:off x="6416218" y="1873250"/>
            <a:ext cx="2285143" cy="2439670"/>
          </a:xfrm>
          <a:prstGeom prst="rect"/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89" r="16989"/>
          <a:stretch>
            <a:fillRect/>
          </a:stretch>
        </p:blipFill>
        <p:spPr>
          <a:xfrm>
            <a:off x="705451" y="1873250"/>
            <a:ext cx="2286000" cy="2308332"/>
          </a:xfrm>
          <a:prstGeom prst="rect"/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20523" r="20523"/>
          <a:stretch>
            <a:fillRect/>
          </a:stretch>
        </p:blipFill>
        <p:spPr>
          <a:xfrm>
            <a:off x="9265251" y="1892300"/>
            <a:ext cx="2271183" cy="2420620"/>
          </a:xfrm>
          <a:prstGeom prst="rect"/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18978" r="18978"/>
          <a:stretch>
            <a:fillRect/>
          </a:stretch>
        </p:blipFill>
        <p:spPr>
          <a:xfrm>
            <a:off x="3571418" y="1892300"/>
            <a:ext cx="2266949" cy="2420620"/>
          </a:xfrm>
          <a:prstGeom prst="rect"/>
        </p:spPr>
      </p:pic>
      <p:grpSp>
        <p:nvGrpSpPr>
          <p:cNvPr id="6" name="Group 6"/>
          <p:cNvGrpSpPr/>
          <p:nvPr/>
        </p:nvGrpSpPr>
        <p:grpSpPr>
          <a:xfrm>
            <a:off x="6416218" y="3460761"/>
            <a:ext cx="2285143" cy="745998"/>
            <a:chOff x="6416218" y="3460761"/>
            <a:chExt cx="2285143" cy="745998"/>
          </a:xfrm>
        </p:grpSpPr>
        <p:sp>
          <p:nvSpPr>
            <p:cNvPr id="7" name="AutoShape 7"/>
            <p:cNvSpPr/>
            <p:nvPr/>
          </p:nvSpPr>
          <p:spPr>
            <a:xfrm>
              <a:off x="6416218" y="3460761"/>
              <a:ext cx="2285143" cy="745998"/>
            </a:xfrm>
            <a:prstGeom prst="rect"/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16218" y="4197615"/>
            <a:ext cx="2288381" cy="2112169"/>
            <a:chOff x="6416218" y="4197615"/>
            <a:chExt cx="2288381" cy="2112169"/>
          </a:xfrm>
        </p:grpSpPr>
        <p:sp>
          <p:nvSpPr>
            <p:cNvPr id="9" name="AutoShape 9"/>
            <p:cNvSpPr/>
            <p:nvPr/>
          </p:nvSpPr>
          <p:spPr>
            <a:xfrm>
              <a:off x="6416218" y="4197615"/>
              <a:ext cx="2288381" cy="2112169"/>
            </a:xfrm>
            <a:prstGeom prst="rect"/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571418" y="3460761"/>
            <a:ext cx="2285429" cy="852159"/>
            <a:chOff x="3571418" y="3460761"/>
            <a:chExt cx="2285429" cy="852159"/>
          </a:xfrm>
        </p:grpSpPr>
        <p:sp>
          <p:nvSpPr>
            <p:cNvPr id="11" name="AutoShape 11"/>
            <p:cNvSpPr/>
            <p:nvPr/>
          </p:nvSpPr>
          <p:spPr>
            <a:xfrm>
              <a:off x="3571418" y="3460761"/>
              <a:ext cx="2285429" cy="852159"/>
            </a:xfrm>
            <a:prstGeom prst="rect"/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571418" y="4206759"/>
            <a:ext cx="2288096" cy="2103025"/>
            <a:chOff x="3571418" y="4206759"/>
            <a:chExt cx="2288096" cy="2103025"/>
          </a:xfrm>
        </p:grpSpPr>
        <p:sp>
          <p:nvSpPr>
            <p:cNvPr id="13" name="AutoShape 13"/>
            <p:cNvSpPr/>
            <p:nvPr/>
          </p:nvSpPr>
          <p:spPr>
            <a:xfrm>
              <a:off x="3571418" y="4206759"/>
              <a:ext cx="2288096" cy="2103025"/>
            </a:xfrm>
            <a:prstGeom prst="rect"/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265251" y="3460761"/>
            <a:ext cx="2286000" cy="745998"/>
            <a:chOff x="9265251" y="3460761"/>
            <a:chExt cx="2286000" cy="745998"/>
          </a:xfrm>
        </p:grpSpPr>
        <p:sp>
          <p:nvSpPr>
            <p:cNvPr id="15" name="AutoShape 15"/>
            <p:cNvSpPr/>
            <p:nvPr/>
          </p:nvSpPr>
          <p:spPr>
            <a:xfrm>
              <a:off x="9265251" y="3460761"/>
              <a:ext cx="2286000" cy="745998"/>
            </a:xfrm>
            <a:prstGeom prst="rect"/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65251" y="4204473"/>
            <a:ext cx="2286000" cy="2105311"/>
            <a:chOff x="9265251" y="4204473"/>
            <a:chExt cx="2286000" cy="2105311"/>
          </a:xfrm>
        </p:grpSpPr>
        <p:sp>
          <p:nvSpPr>
            <p:cNvPr id="17" name="AutoShape 17"/>
            <p:cNvSpPr/>
            <p:nvPr/>
          </p:nvSpPr>
          <p:spPr>
            <a:xfrm>
              <a:off x="9265251" y="4204473"/>
              <a:ext cx="2286000" cy="2105311"/>
            </a:xfrm>
            <a:prstGeom prst="rect"/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05451" y="3460761"/>
            <a:ext cx="2286000" cy="2849023"/>
            <a:chOff x="705451" y="3460761"/>
            <a:chExt cx="2286000" cy="2849023"/>
          </a:xfrm>
        </p:grpSpPr>
        <p:sp>
          <p:nvSpPr>
            <p:cNvPr id="19" name="AutoShape 19"/>
            <p:cNvSpPr/>
            <p:nvPr/>
          </p:nvSpPr>
          <p:spPr>
            <a:xfrm>
              <a:off x="705451" y="3460761"/>
              <a:ext cx="2286000" cy="883920"/>
            </a:xfrm>
            <a:prstGeom prst="rect"/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05451" y="4206759"/>
              <a:ext cx="2286000" cy="2103025"/>
            </a:xfrm>
            <a:prstGeom prst="rect"/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2" name="AutoShape 22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训练内容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6455" y="4477571"/>
            <a:ext cx="2164942" cy="1552257"/>
            <a:chOff x="756455" y="4477571"/>
            <a:chExt cx="2164942" cy="1552257"/>
          </a:xfrm>
        </p:grpSpPr>
        <p:sp>
          <p:nvSpPr>
            <p:cNvPr id="44" name="TextBox 44"/>
            <p:cNvSpPr txBox="1"/>
            <p:nvPr/>
          </p:nvSpPr>
          <p:spPr>
            <a:xfrm>
              <a:off x="756455" y="4477571"/>
              <a:ext cx="2164942" cy="155225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宇航员需要经过严格的体能训练，以适应长时间失重环境下的生活和工作。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628568" y="4477571"/>
            <a:ext cx="2164942" cy="1552257"/>
            <a:chOff x="3628568" y="4477571"/>
            <a:chExt cx="2164942" cy="1552257"/>
          </a:xfrm>
        </p:grpSpPr>
        <p:sp>
          <p:nvSpPr>
            <p:cNvPr id="46" name="TextBox 46"/>
            <p:cNvSpPr txBox="1"/>
            <p:nvPr/>
          </p:nvSpPr>
          <p:spPr>
            <a:xfrm>
              <a:off x="3628568" y="4477571"/>
              <a:ext cx="2164942" cy="155225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学习航天器操作、紧急情况处理、科学实验等技术知识和技能。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6794" y="4477571"/>
            <a:ext cx="2164942" cy="1552257"/>
            <a:chOff x="6466794" y="4477571"/>
            <a:chExt cx="2164942" cy="1552257"/>
          </a:xfrm>
        </p:grpSpPr>
        <p:sp>
          <p:nvSpPr>
            <p:cNvPr id="48" name="TextBox 48"/>
            <p:cNvSpPr txBox="1"/>
            <p:nvPr/>
          </p:nvSpPr>
          <p:spPr>
            <a:xfrm>
              <a:off x="6466794" y="4477571"/>
              <a:ext cx="2164942" cy="155225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模拟太空中的生活和工作环境，进行各种任务演练和紧急情况应对。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18371" y="4477571"/>
            <a:ext cx="2164942" cy="1552257"/>
            <a:chOff x="9318371" y="4477571"/>
            <a:chExt cx="2164942" cy="1552257"/>
          </a:xfrm>
        </p:grpSpPr>
        <p:sp>
          <p:nvSpPr>
            <p:cNvPr id="50" name="TextBox 50"/>
            <p:cNvSpPr txBox="1"/>
            <p:nvPr/>
          </p:nvSpPr>
          <p:spPr>
            <a:xfrm>
              <a:off x="9318371" y="4477571"/>
              <a:ext cx="2164942" cy="155225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提供心理辅导和支持，帮助宇航员适应太空环境和生活。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05451" y="3588593"/>
            <a:ext cx="2267763" cy="490334"/>
            <a:chOff x="705451" y="3588593"/>
            <a:chExt cx="2267763" cy="490334"/>
          </a:xfrm>
        </p:grpSpPr>
        <p:sp>
          <p:nvSpPr>
            <p:cNvPr id="52" name="TextBox 52"/>
            <p:cNvSpPr txBox="1"/>
            <p:nvPr/>
          </p:nvSpPr>
          <p:spPr>
            <a:xfrm>
              <a:off x="705451" y="3588593"/>
              <a:ext cx="2267763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体能训练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628568" y="3588593"/>
            <a:ext cx="2267763" cy="490334"/>
            <a:chOff x="3628568" y="3588593"/>
            <a:chExt cx="2267763" cy="490334"/>
          </a:xfrm>
        </p:grpSpPr>
        <p:sp>
          <p:nvSpPr>
            <p:cNvPr id="54" name="TextBox 54"/>
            <p:cNvSpPr txBox="1"/>
            <p:nvPr/>
          </p:nvSpPr>
          <p:spPr>
            <a:xfrm>
              <a:off x="3628568" y="3588593"/>
              <a:ext cx="2267763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技术培训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33598" y="3588593"/>
            <a:ext cx="2267763" cy="490334"/>
            <a:chOff x="6433598" y="3588593"/>
            <a:chExt cx="2267763" cy="490334"/>
          </a:xfrm>
        </p:grpSpPr>
        <p:sp>
          <p:nvSpPr>
            <p:cNvPr id="56" name="TextBox 56"/>
            <p:cNvSpPr txBox="1"/>
            <p:nvPr/>
          </p:nvSpPr>
          <p:spPr>
            <a:xfrm>
              <a:off x="6433598" y="3588593"/>
              <a:ext cx="2267763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模拟训练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265251" y="3588593"/>
            <a:ext cx="2267763" cy="490334"/>
            <a:chOff x="9265251" y="3588593"/>
            <a:chExt cx="2267763" cy="490334"/>
          </a:xfrm>
        </p:grpSpPr>
        <p:sp>
          <p:nvSpPr>
            <p:cNvPr id="58" name="TextBox 58"/>
            <p:cNvSpPr txBox="1"/>
            <p:nvPr/>
          </p:nvSpPr>
          <p:spPr>
            <a:xfrm>
              <a:off x="9265251" y="3588593"/>
              <a:ext cx="2267763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心理辅导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64019" y="2833673"/>
            <a:ext cx="1616136" cy="1616136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4633268" y="2833673"/>
            <a:ext cx="1616136" cy="1616136"/>
          </a:xfrm>
          <a:prstGeom prst="ellipse"/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102515" y="2833673"/>
            <a:ext cx="1616136" cy="1616136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7571764" y="2833673"/>
            <a:ext cx="1616136" cy="1616136"/>
          </a:xfrm>
          <a:prstGeom prst="ellipse"/>
          <a:solidFill>
            <a:schemeClr val="accent3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3487002" y="3175240"/>
            <a:ext cx="970170" cy="940579"/>
          </a:xfrm>
          <a:prstGeom prst="rect"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551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56251" y="3175240"/>
            <a:ext cx="970170" cy="940579"/>
          </a:xfrm>
          <a:prstGeom prst="rect"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551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25498" y="3175240"/>
            <a:ext cx="970170" cy="940579"/>
          </a:xfrm>
          <a:prstGeom prst="rect"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551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894747" y="3175240"/>
            <a:ext cx="970170" cy="940579"/>
          </a:xfrm>
          <a:prstGeom prst="rect"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551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1" name="AutoShape 11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心理准备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8919" y="1491953"/>
            <a:ext cx="4011236" cy="490334"/>
            <a:chOff x="768919" y="1491953"/>
            <a:chExt cx="4011236" cy="490334"/>
          </a:xfrm>
        </p:grpSpPr>
        <p:sp>
          <p:nvSpPr>
            <p:cNvPr id="33" name="TextBox 33"/>
            <p:cNvSpPr txBox="1"/>
            <p:nvPr/>
          </p:nvSpPr>
          <p:spPr>
            <a:xfrm>
              <a:off x="768919" y="1491953"/>
              <a:ext cx="4011236" cy="490334"/>
            </a:xfrm>
            <a:prstGeom prst="rect"/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适应性训练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4725" y="1982286"/>
            <a:ext cx="4133850" cy="851387"/>
            <a:chOff x="644725" y="1982286"/>
            <a:chExt cx="4133850" cy="851387"/>
          </a:xfrm>
        </p:grpSpPr>
        <p:sp>
          <p:nvSpPr>
            <p:cNvPr id="35" name="TextBox 35"/>
            <p:cNvSpPr txBox="1"/>
            <p:nvPr/>
          </p:nvSpPr>
          <p:spPr>
            <a:xfrm>
              <a:off x="644725" y="1982286"/>
              <a:ext cx="4133850" cy="85138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帮助宇航员适应长时间在太空中的生活和工作，包括应对孤独、焦虑、抑郁等心理问题。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02515" y="1491953"/>
            <a:ext cx="4010978" cy="490334"/>
            <a:chOff x="6102515" y="1491953"/>
            <a:chExt cx="4010978" cy="490334"/>
          </a:xfrm>
        </p:grpSpPr>
        <p:sp>
          <p:nvSpPr>
            <p:cNvPr id="37" name="TextBox 37"/>
            <p:cNvSpPr txBox="1"/>
            <p:nvPr/>
          </p:nvSpPr>
          <p:spPr>
            <a:xfrm>
              <a:off x="6102515" y="1491953"/>
              <a:ext cx="4010978" cy="490334"/>
            </a:xfrm>
            <a:prstGeom prst="rect"/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应对压力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02515" y="1982286"/>
            <a:ext cx="4133850" cy="851387"/>
            <a:chOff x="6102515" y="1982286"/>
            <a:chExt cx="4133850" cy="851387"/>
          </a:xfrm>
        </p:grpSpPr>
        <p:sp>
          <p:nvSpPr>
            <p:cNvPr id="39" name="TextBox 39"/>
            <p:cNvSpPr txBox="1"/>
            <p:nvPr/>
          </p:nvSpPr>
          <p:spPr>
            <a:xfrm>
              <a:off x="6102515" y="1982286"/>
              <a:ext cx="4133850" cy="85138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学习应对各种压力的方法和技巧，如时间管理、情绪调节等。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297292" y="4606720"/>
            <a:ext cx="4011236" cy="490334"/>
            <a:chOff x="2297292" y="4606720"/>
            <a:chExt cx="4011236" cy="490334"/>
          </a:xfrm>
        </p:grpSpPr>
        <p:sp>
          <p:nvSpPr>
            <p:cNvPr id="41" name="TextBox 41"/>
            <p:cNvSpPr txBox="1"/>
            <p:nvPr/>
          </p:nvSpPr>
          <p:spPr>
            <a:xfrm>
              <a:off x="2297292" y="4606720"/>
              <a:ext cx="4011236" cy="490334"/>
            </a:xfrm>
            <a:prstGeom prst="rect"/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心理支持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173097" y="5097054"/>
            <a:ext cx="4133850" cy="851387"/>
            <a:chOff x="2173097" y="5097054"/>
            <a:chExt cx="4133850" cy="851387"/>
          </a:xfrm>
        </p:grpSpPr>
        <p:sp>
          <p:nvSpPr>
            <p:cNvPr id="43" name="TextBox 43"/>
            <p:cNvSpPr txBox="1"/>
            <p:nvPr/>
          </p:nvSpPr>
          <p:spPr>
            <a:xfrm>
              <a:off x="2173097" y="5097054"/>
              <a:ext cx="4133850" cy="85138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提供心理支持和咨询，帮助宇航员保持良好的心理状态。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30887" y="4606720"/>
            <a:ext cx="4010978" cy="490334"/>
            <a:chOff x="7630887" y="4606720"/>
            <a:chExt cx="4010978" cy="490334"/>
          </a:xfrm>
        </p:grpSpPr>
        <p:sp>
          <p:nvSpPr>
            <p:cNvPr id="45" name="TextBox 45"/>
            <p:cNvSpPr txBox="1"/>
            <p:nvPr/>
          </p:nvSpPr>
          <p:spPr>
            <a:xfrm>
              <a:off x="7630887" y="4606720"/>
              <a:ext cx="4010978" cy="490334"/>
            </a:xfrm>
            <a:prstGeom prst="rect"/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家庭支持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30887" y="5097054"/>
            <a:ext cx="4133850" cy="851387"/>
            <a:chOff x="7630887" y="5097054"/>
            <a:chExt cx="4133850" cy="851387"/>
          </a:xfrm>
        </p:grpSpPr>
        <p:sp>
          <p:nvSpPr>
            <p:cNvPr id="47" name="TextBox 47"/>
            <p:cNvSpPr txBox="1"/>
            <p:nvPr/>
          </p:nvSpPr>
          <p:spPr>
            <a:xfrm>
              <a:off x="7630887" y="5097054"/>
              <a:ext cx="4133850" cy="851387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强调家庭和社会支持的重要性，帮助宇航员平衡家庭和工作关系。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623" y="1744442"/>
            <a:ext cx="950685" cy="826132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446458" y="1867338"/>
            <a:ext cx="3087014" cy="580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075" b="1" dirty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1305" y="2643681"/>
            <a:ext cx="8975750" cy="2104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宇航员在太空中的生活环境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8874" y="1454724"/>
            <a:ext cx="4632960" cy="2072640"/>
          </a:xfrm>
          <a:prstGeom prst="rect"/>
          <a:solidFill>
            <a:schemeClr val="lt1">
              <a:alpha val="60000"/>
            </a:schemeClr>
          </a:solidFill>
          <a:ln w="6286">
            <a:solidFill>
              <a:schemeClr val="dk2">
                <a:alpha val="60000"/>
              </a:schemeClr>
            </a:solidFill>
            <a:prstDash val="solid"/>
          </a:ln>
        </p:spPr>
        <p:style>
          <a:lnRef idx="0">
            <a:schemeClr val="dk2"/>
          </a:lnRef>
          <a:fillRef idx="1">
            <a:schemeClr val="dk2"/>
          </a:fillRef>
          <a:effectRef idx="0">
            <a:schemeClr val="dk2"/>
          </a:effectRef>
          <a:fontRef idx="minor">
            <a:schemeClr val="lt1"/>
          </a:fontRef>
        </p:style>
      </p:sp>
      <p:sp>
        <p:nvSpPr>
          <p:cNvPr id="3" name="TextBox 3"/>
          <p:cNvSpPr txBox="1"/>
          <p:nvPr/>
        </p:nvSpPr>
        <p:spPr>
          <a:xfrm>
            <a:off x="1267642" y="1942922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居住区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5272" y="2413457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提供宇航员休息和睡觉的区域，配备有床铺、储物柜和独立卫生间。</a:t>
            </a:r>
          </a:p>
        </p:txBody>
      </p:sp>
      <p:sp>
        <p:nvSpPr>
          <p:cNvPr id="5" name="AutoShape 5"/>
          <p:cNvSpPr/>
          <p:nvPr/>
        </p:nvSpPr>
        <p:spPr>
          <a:xfrm rot="2700000">
            <a:off x="3139895" y="1059265"/>
            <a:ext cx="790918" cy="790918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3264136" y="1220082"/>
            <a:ext cx="542436" cy="530244"/>
          </a:xfrm>
          <a:custGeom>
            <a:rect l="l" t="t" r="r" b="b"/>
            <a:pathLst>
              <a:path w="304800" h="304800">
                <a:moveTo>
                  <a:pt x="20031" y="114795"/>
                </a:moveTo>
                <a:lnTo>
                  <a:pt x="147647" y="273187"/>
                </a:lnTo>
                <a:lnTo>
                  <a:pt x="96469" y="114795"/>
                </a:lnTo>
                <a:lnTo>
                  <a:pt x="20031" y="114795"/>
                </a:lnTo>
                <a:close/>
                <a:moveTo>
                  <a:pt x="110338" y="114795"/>
                </a:moveTo>
                <a:lnTo>
                  <a:pt x="155534" y="273510"/>
                </a:lnTo>
                <a:lnTo>
                  <a:pt x="194424" y="114795"/>
                </a:lnTo>
                <a:lnTo>
                  <a:pt x="110338" y="114795"/>
                </a:lnTo>
                <a:close/>
                <a:moveTo>
                  <a:pt x="162411" y="273187"/>
                </a:moveTo>
                <a:lnTo>
                  <a:pt x="285264" y="114795"/>
                </a:lnTo>
                <a:lnTo>
                  <a:pt x="209417" y="114795"/>
                </a:lnTo>
                <a:lnTo>
                  <a:pt x="162411" y="273187"/>
                </a:lnTo>
                <a:close/>
                <a:moveTo>
                  <a:pt x="285550" y="104432"/>
                </a:moveTo>
                <a:lnTo>
                  <a:pt x="248717" y="41453"/>
                </a:lnTo>
                <a:lnTo>
                  <a:pt x="211865" y="104432"/>
                </a:lnTo>
                <a:lnTo>
                  <a:pt x="285550" y="104432"/>
                </a:lnTo>
                <a:close/>
                <a:moveTo>
                  <a:pt x="237134" y="37843"/>
                </a:moveTo>
                <a:lnTo>
                  <a:pt x="163449" y="37843"/>
                </a:lnTo>
                <a:lnTo>
                  <a:pt x="200282" y="102984"/>
                </a:lnTo>
                <a:lnTo>
                  <a:pt x="237134" y="37843"/>
                </a:lnTo>
                <a:close/>
                <a:moveTo>
                  <a:pt x="188957" y="104432"/>
                </a:moveTo>
                <a:lnTo>
                  <a:pt x="152124" y="41453"/>
                </a:lnTo>
                <a:lnTo>
                  <a:pt x="115281" y="104432"/>
                </a:lnTo>
                <a:lnTo>
                  <a:pt x="188957" y="104432"/>
                </a:lnTo>
                <a:close/>
                <a:moveTo>
                  <a:pt x="141341" y="37843"/>
                </a:moveTo>
                <a:lnTo>
                  <a:pt x="67666" y="37843"/>
                </a:lnTo>
                <a:lnTo>
                  <a:pt x="104508" y="102984"/>
                </a:lnTo>
                <a:lnTo>
                  <a:pt x="141341" y="37843"/>
                </a:lnTo>
                <a:close/>
                <a:moveTo>
                  <a:pt x="56093" y="41453"/>
                </a:moveTo>
                <a:lnTo>
                  <a:pt x="19260" y="104432"/>
                </a:lnTo>
                <a:lnTo>
                  <a:pt x="92935" y="104432"/>
                </a:lnTo>
                <a:lnTo>
                  <a:pt x="56093" y="4145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cxnSp>
        <p:nvCxnSpPr>
          <p:cNvPr id="7" name="Connector 7"/>
          <p:cNvCxnSpPr/>
          <p:nvPr/>
        </p:nvCxnSpPr>
        <p:spPr>
          <a:xfrm flipV="1">
            <a:off x="6220648" y="2346968"/>
            <a:ext cx="0" cy="3305393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or 8"/>
          <p:cNvCxnSpPr/>
          <p:nvPr/>
        </p:nvCxnSpPr>
        <p:spPr>
          <a:xfrm>
            <a:off x="4684480" y="3999665"/>
            <a:ext cx="3072335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AutoShape 9"/>
          <p:cNvSpPr/>
          <p:nvPr/>
        </p:nvSpPr>
        <p:spPr>
          <a:xfrm>
            <a:off x="6589461" y="1454724"/>
            <a:ext cx="4632960" cy="2072640"/>
          </a:xfrm>
          <a:prstGeom prst="rect"/>
          <a:solidFill>
            <a:schemeClr val="lt1">
              <a:alpha val="60000"/>
            </a:schemeClr>
          </a:solidFill>
          <a:ln w="6286">
            <a:solidFill>
              <a:schemeClr val="dk2">
                <a:alpha val="60000"/>
              </a:schemeClr>
            </a:solidFill>
            <a:prstDash val="solid"/>
          </a:ln>
        </p:spPr>
        <p:style>
          <a:lnRef idx="0">
            <a:schemeClr val="dk2"/>
          </a:lnRef>
          <a:fillRef idx="1">
            <a:schemeClr val="dk2"/>
          </a:fillRef>
          <a:effectRef idx="0">
            <a:schemeClr val="dk2"/>
          </a:effectRef>
          <a:fontRef idx="minor">
            <a:schemeClr val="lt1"/>
          </a:fontRef>
        </p:style>
      </p:sp>
      <p:sp>
        <p:nvSpPr>
          <p:cNvPr id="10" name="TextBox 10"/>
          <p:cNvSpPr txBox="1"/>
          <p:nvPr/>
        </p:nvSpPr>
        <p:spPr>
          <a:xfrm>
            <a:off x="6638230" y="1942922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工作区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5860" y="2413457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进行科学实验和观测的场所，配备有各种实验设备和仪器。</a:t>
            </a:r>
          </a:p>
        </p:txBody>
      </p:sp>
      <p:sp>
        <p:nvSpPr>
          <p:cNvPr id="12" name="AutoShape 12"/>
          <p:cNvSpPr/>
          <p:nvPr/>
        </p:nvSpPr>
        <p:spPr>
          <a:xfrm rot="2700000">
            <a:off x="8510482" y="1059265"/>
            <a:ext cx="790918" cy="79091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218874" y="4270883"/>
            <a:ext cx="4632960" cy="2072640"/>
          </a:xfrm>
          <a:prstGeom prst="rect"/>
          <a:solidFill>
            <a:schemeClr val="lt1">
              <a:alpha val="60000"/>
            </a:schemeClr>
          </a:solidFill>
          <a:ln w="6286">
            <a:solidFill>
              <a:schemeClr val="dk2">
                <a:alpha val="60000"/>
              </a:schemeClr>
            </a:solidFill>
            <a:prstDash val="solid"/>
          </a:ln>
        </p:spPr>
        <p:style>
          <a:lnRef idx="0">
            <a:schemeClr val="dk2"/>
          </a:lnRef>
          <a:fillRef idx="1">
            <a:schemeClr val="dk2"/>
          </a:fillRef>
          <a:effectRef idx="0">
            <a:schemeClr val="dk2"/>
          </a:effectRef>
          <a:fontRef idx="minor">
            <a:schemeClr val="lt1"/>
          </a:fontRef>
        </p:style>
      </p:sp>
      <p:sp>
        <p:nvSpPr>
          <p:cNvPr id="14" name="TextBox 14"/>
          <p:cNvSpPr txBox="1"/>
          <p:nvPr/>
        </p:nvSpPr>
        <p:spPr>
          <a:xfrm>
            <a:off x="1267642" y="4759081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运动区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5272" y="5229616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提供宇航员进行体育锻炼的设施，如跑步机、自行车等。</a:t>
            </a:r>
          </a:p>
        </p:txBody>
      </p:sp>
      <p:sp>
        <p:nvSpPr>
          <p:cNvPr id="16" name="AutoShape 16"/>
          <p:cNvSpPr/>
          <p:nvPr/>
        </p:nvSpPr>
        <p:spPr>
          <a:xfrm rot="2700000">
            <a:off x="3139895" y="3875423"/>
            <a:ext cx="790918" cy="79091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6589461" y="4270883"/>
            <a:ext cx="4632960" cy="2072640"/>
          </a:xfrm>
          <a:prstGeom prst="rect"/>
          <a:solidFill>
            <a:schemeClr val="lt1">
              <a:alpha val="60000"/>
            </a:schemeClr>
          </a:solidFill>
          <a:ln w="6286">
            <a:solidFill>
              <a:schemeClr val="dk2">
                <a:alpha val="60000"/>
              </a:schemeClr>
            </a:solidFill>
            <a:prstDash val="solid"/>
          </a:ln>
        </p:spPr>
        <p:style>
          <a:lnRef idx="0">
            <a:schemeClr val="dk2"/>
          </a:lnRef>
          <a:fillRef idx="1">
            <a:schemeClr val="dk2"/>
          </a:fillRef>
          <a:effectRef idx="0">
            <a:schemeClr val="dk2"/>
          </a:effectRef>
          <a:fontRef idx="minor">
            <a:schemeClr val="lt1"/>
          </a:fontRef>
        </p:style>
      </p:sp>
      <p:sp>
        <p:nvSpPr>
          <p:cNvPr id="18" name="TextBox 18"/>
          <p:cNvSpPr txBox="1"/>
          <p:nvPr/>
        </p:nvSpPr>
        <p:spPr>
          <a:xfrm>
            <a:off x="6638230" y="4759081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医疗区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5860" y="5229616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提供紧急医疗设备和药品，用于处理宇航员的突发状况。</a:t>
            </a:r>
          </a:p>
        </p:txBody>
      </p:sp>
      <p:sp>
        <p:nvSpPr>
          <p:cNvPr id="20" name="AutoShape 20"/>
          <p:cNvSpPr/>
          <p:nvPr/>
        </p:nvSpPr>
        <p:spPr>
          <a:xfrm rot="2700000">
            <a:off x="8510482" y="3875423"/>
            <a:ext cx="790918" cy="790918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8672065" y="1195698"/>
            <a:ext cx="492903" cy="492903"/>
          </a:xfrm>
          <a:custGeom>
            <a:rect l="l" t="t" r="r" b="b"/>
            <a:pathLst>
              <a:path w="304800" h="304800">
                <a:moveTo>
                  <a:pt x="264633" y="75590"/>
                </a:moveTo>
                <a:cubicBezTo>
                  <a:pt x="273768" y="97622"/>
                  <a:pt x="269415" y="123920"/>
                  <a:pt x="251498" y="141837"/>
                </a:cubicBezTo>
                <a:cubicBezTo>
                  <a:pt x="231772" y="161563"/>
                  <a:pt x="201959" y="164649"/>
                  <a:pt x="178784" y="151571"/>
                </a:cubicBezTo>
                <a:lnTo>
                  <a:pt x="162030" y="169869"/>
                </a:lnTo>
                <a:lnTo>
                  <a:pt x="173984" y="181870"/>
                </a:lnTo>
                <a:lnTo>
                  <a:pt x="181127" y="174727"/>
                </a:lnTo>
                <a:cubicBezTo>
                  <a:pt x="184775" y="171069"/>
                  <a:pt x="190700" y="171069"/>
                  <a:pt x="194348" y="174727"/>
                </a:cubicBezTo>
                <a:lnTo>
                  <a:pt x="252279" y="233248"/>
                </a:lnTo>
                <a:cubicBezTo>
                  <a:pt x="255937" y="236896"/>
                  <a:pt x="255937" y="242821"/>
                  <a:pt x="252279" y="246469"/>
                </a:cubicBezTo>
                <a:lnTo>
                  <a:pt x="225838" y="272910"/>
                </a:lnTo>
                <a:cubicBezTo>
                  <a:pt x="222190" y="276568"/>
                  <a:pt x="216265" y="276568"/>
                  <a:pt x="212617" y="272910"/>
                </a:cubicBezTo>
                <a:lnTo>
                  <a:pt x="154686" y="214389"/>
                </a:lnTo>
                <a:cubicBezTo>
                  <a:pt x="151028" y="210741"/>
                  <a:pt x="151028" y="204816"/>
                  <a:pt x="154686" y="201168"/>
                </a:cubicBezTo>
                <a:lnTo>
                  <a:pt x="161211" y="194643"/>
                </a:lnTo>
                <a:lnTo>
                  <a:pt x="149819" y="183223"/>
                </a:lnTo>
                <a:lnTo>
                  <a:pt x="69704" y="270748"/>
                </a:lnTo>
                <a:cubicBezTo>
                  <a:pt x="62398" y="278054"/>
                  <a:pt x="50559" y="278054"/>
                  <a:pt x="43263" y="270748"/>
                </a:cubicBezTo>
                <a:lnTo>
                  <a:pt x="36652" y="264138"/>
                </a:lnTo>
                <a:cubicBezTo>
                  <a:pt x="29347" y="256832"/>
                  <a:pt x="29347" y="244993"/>
                  <a:pt x="36652" y="237696"/>
                </a:cubicBezTo>
                <a:lnTo>
                  <a:pt x="127921" y="161258"/>
                </a:lnTo>
                <a:lnTo>
                  <a:pt x="67304" y="100479"/>
                </a:lnTo>
                <a:lnTo>
                  <a:pt x="48158" y="100470"/>
                </a:lnTo>
                <a:lnTo>
                  <a:pt x="26003" y="64846"/>
                </a:lnTo>
                <a:lnTo>
                  <a:pt x="43834" y="46987"/>
                </a:lnTo>
                <a:lnTo>
                  <a:pt x="80267" y="69285"/>
                </a:lnTo>
                <a:lnTo>
                  <a:pt x="80505" y="88030"/>
                </a:lnTo>
                <a:lnTo>
                  <a:pt x="141827" y="149590"/>
                </a:lnTo>
                <a:lnTo>
                  <a:pt x="159668" y="134655"/>
                </a:lnTo>
                <a:cubicBezTo>
                  <a:pt x="142227" y="110881"/>
                  <a:pt x="144047" y="77391"/>
                  <a:pt x="165535" y="55902"/>
                </a:cubicBezTo>
                <a:cubicBezTo>
                  <a:pt x="183366" y="38071"/>
                  <a:pt x="209521" y="33642"/>
                  <a:pt x="231496" y="42605"/>
                </a:cubicBezTo>
                <a:lnTo>
                  <a:pt x="192215" y="81344"/>
                </a:lnTo>
                <a:lnTo>
                  <a:pt x="225276" y="114405"/>
                </a:lnTo>
                <a:lnTo>
                  <a:pt x="264633" y="75590"/>
                </a:lnTo>
                <a:close/>
                <a:moveTo>
                  <a:pt x="58579" y="247021"/>
                </a:moveTo>
                <a:cubicBezTo>
                  <a:pt x="54931" y="243373"/>
                  <a:pt x="49016" y="243373"/>
                  <a:pt x="45358" y="247021"/>
                </a:cubicBezTo>
                <a:cubicBezTo>
                  <a:pt x="41700" y="250679"/>
                  <a:pt x="41700" y="256594"/>
                  <a:pt x="45358" y="260252"/>
                </a:cubicBezTo>
                <a:cubicBezTo>
                  <a:pt x="49016" y="263900"/>
                  <a:pt x="54931" y="263900"/>
                  <a:pt x="58579" y="260252"/>
                </a:cubicBezTo>
                <a:cubicBezTo>
                  <a:pt x="62236" y="256584"/>
                  <a:pt x="62236" y="250669"/>
                  <a:pt x="58579" y="24702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2" name="Freeform 22"/>
          <p:cNvSpPr/>
          <p:nvPr/>
        </p:nvSpPr>
        <p:spPr>
          <a:xfrm>
            <a:off x="3297145" y="4016916"/>
            <a:ext cx="476417" cy="476417"/>
          </a:xfrm>
          <a:custGeom>
            <a:rect l="l" t="t" r="r" b="b"/>
            <a:pathLst>
              <a:path w="304800" h="304800">
                <a:moveTo>
                  <a:pt x="213360" y="76200"/>
                </a:moveTo>
                <a:lnTo>
                  <a:pt x="243840" y="76200"/>
                </a:lnTo>
                <a:lnTo>
                  <a:pt x="243840" y="289560"/>
                </a:lnTo>
                <a:lnTo>
                  <a:pt x="60960" y="289560"/>
                </a:lnTo>
                <a:lnTo>
                  <a:pt x="60960" y="76200"/>
                </a:lnTo>
                <a:lnTo>
                  <a:pt x="91440" y="76200"/>
                </a:lnTo>
                <a:lnTo>
                  <a:pt x="91440" y="60960"/>
                </a:lnTo>
                <a:cubicBezTo>
                  <a:pt x="91440" y="44129"/>
                  <a:pt x="105089" y="30480"/>
                  <a:pt x="121920" y="30480"/>
                </a:cubicBezTo>
                <a:lnTo>
                  <a:pt x="121920" y="30480"/>
                </a:lnTo>
                <a:lnTo>
                  <a:pt x="182880" y="30480"/>
                </a:lnTo>
                <a:cubicBezTo>
                  <a:pt x="199711" y="30480"/>
                  <a:pt x="213360" y="44129"/>
                  <a:pt x="213360" y="60960"/>
                </a:cubicBezTo>
                <a:lnTo>
                  <a:pt x="213360" y="60960"/>
                </a:lnTo>
                <a:lnTo>
                  <a:pt x="213360" y="76200"/>
                </a:lnTo>
                <a:close/>
                <a:moveTo>
                  <a:pt x="259080" y="76200"/>
                </a:moveTo>
                <a:lnTo>
                  <a:pt x="274320" y="76200"/>
                </a:lnTo>
                <a:cubicBezTo>
                  <a:pt x="291151" y="76200"/>
                  <a:pt x="304800" y="89849"/>
                  <a:pt x="304800" y="106680"/>
                </a:cubicBezTo>
                <a:lnTo>
                  <a:pt x="304800" y="106680"/>
                </a:lnTo>
                <a:lnTo>
                  <a:pt x="304800" y="259080"/>
                </a:lnTo>
                <a:cubicBezTo>
                  <a:pt x="304800" y="275911"/>
                  <a:pt x="291151" y="289560"/>
                  <a:pt x="274320" y="289560"/>
                </a:cubicBezTo>
                <a:lnTo>
                  <a:pt x="274320" y="289560"/>
                </a:lnTo>
                <a:lnTo>
                  <a:pt x="259080" y="289560"/>
                </a:lnTo>
                <a:lnTo>
                  <a:pt x="259080" y="76200"/>
                </a:lnTo>
                <a:close/>
                <a:moveTo>
                  <a:pt x="45720" y="76200"/>
                </a:moveTo>
                <a:lnTo>
                  <a:pt x="45720" y="289560"/>
                </a:lnTo>
                <a:lnTo>
                  <a:pt x="30480" y="289560"/>
                </a:lnTo>
                <a:cubicBezTo>
                  <a:pt x="13649" y="289560"/>
                  <a:pt x="0" y="275911"/>
                  <a:pt x="0" y="259080"/>
                </a:cubicBezTo>
                <a:lnTo>
                  <a:pt x="0" y="259080"/>
                </a:lnTo>
                <a:lnTo>
                  <a:pt x="0" y="106680"/>
                </a:lnTo>
                <a:cubicBezTo>
                  <a:pt x="0" y="89916"/>
                  <a:pt x="13716" y="76200"/>
                  <a:pt x="30480" y="76200"/>
                </a:cubicBezTo>
                <a:lnTo>
                  <a:pt x="45720" y="76200"/>
                </a:lnTo>
                <a:close/>
                <a:moveTo>
                  <a:pt x="121920" y="60960"/>
                </a:moveTo>
                <a:lnTo>
                  <a:pt x="121920" y="76200"/>
                </a:lnTo>
                <a:lnTo>
                  <a:pt x="182880" y="76200"/>
                </a:lnTo>
                <a:lnTo>
                  <a:pt x="182880" y="60960"/>
                </a:lnTo>
                <a:lnTo>
                  <a:pt x="121920" y="609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3" name="Freeform 23"/>
          <p:cNvSpPr/>
          <p:nvPr/>
        </p:nvSpPr>
        <p:spPr>
          <a:xfrm>
            <a:off x="8651974" y="4016916"/>
            <a:ext cx="507934" cy="507934"/>
          </a:xfrm>
          <a:custGeom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grpSp>
        <p:nvGrpSpPr>
          <p:cNvPr id="24" name="Group 2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5" name="AutoShape 25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空间站设施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78588" y="4047424"/>
            <a:ext cx="5505365" cy="1698791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799673" y="4047424"/>
            <a:ext cx="5613739" cy="1698791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5799673" y="1935245"/>
            <a:ext cx="5613739" cy="170962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778588" y="1935245"/>
            <a:ext cx="5505365" cy="170962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1114495" y="2158706"/>
            <a:ext cx="2409807" cy="4095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95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方便食品</a:t>
            </a:r>
          </a:p>
        </p:txBody>
      </p:sp>
      <p:sp>
        <p:nvSpPr>
          <p:cNvPr id="7" name="AutoShape 7"/>
          <p:cNvSpPr/>
          <p:nvPr/>
        </p:nvSpPr>
        <p:spPr>
          <a:xfrm>
            <a:off x="4208189" y="1910609"/>
            <a:ext cx="3775622" cy="3858888"/>
          </a:xfrm>
          <a:prstGeom prst="ellipse"/>
          <a:gradFill>
            <a:gsLst>
              <a:gs pos="0">
                <a:schemeClr val="lt1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</p:sp>
      <p:sp>
        <p:nvSpPr>
          <p:cNvPr id="8" name="AutoShape 8"/>
          <p:cNvSpPr/>
          <p:nvPr/>
        </p:nvSpPr>
        <p:spPr>
          <a:xfrm>
            <a:off x="4954763" y="2673647"/>
            <a:ext cx="2282475" cy="2332812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>
            <a:off x="5632366" y="3347887"/>
            <a:ext cx="927269" cy="984332"/>
          </a:xfrm>
          <a:custGeom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494053" y="1747648"/>
            <a:ext cx="602811" cy="626450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098384" y="1747648"/>
            <a:ext cx="602811" cy="626450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7811074" y="2673647"/>
            <a:ext cx="3267075" cy="685800"/>
          </a:xfrm>
          <a:prstGeom prst="rect"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经过脱水处理，需要加水复原的食品，如蔬菜、水果等。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68342" y="2166108"/>
            <a:ext cx="2409807" cy="4095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96000"/>
              </a:lnSpc>
            </a:pPr>
            <a:r>
              <a:rPr lang="en-US" sz="195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复水食品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4495" y="4270522"/>
            <a:ext cx="2409807" cy="4095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95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太空烹饪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68342" y="4277924"/>
            <a:ext cx="2409807" cy="4095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96000"/>
              </a:lnSpc>
            </a:pPr>
            <a:r>
              <a:rPr lang="en-US" sz="1950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特殊食品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54963" y="5401184"/>
            <a:ext cx="602811" cy="626450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11059294" y="5401184"/>
            <a:ext cx="602811" cy="626450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>
            <a:off x="497434" y="1795882"/>
            <a:ext cx="1141839" cy="511874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  <a:spcBef>
                <a:spcPts val="450"/>
              </a:spcBef>
            </a:pPr>
            <a:r>
              <a:rPr lang="en-US" sz="26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98377" y="1797101"/>
            <a:ext cx="1141839" cy="511874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  <a:spcBef>
                <a:spcPts val="450"/>
              </a:spcBef>
            </a:pPr>
            <a:r>
              <a:rPr lang="en-US" sz="26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49615" y="5464454"/>
            <a:ext cx="1141839" cy="511874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  <a:spcBef>
                <a:spcPts val="450"/>
              </a:spcBef>
            </a:pPr>
            <a:r>
              <a:rPr lang="en-US" sz="26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66" y="5452263"/>
            <a:ext cx="1141839" cy="511874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  <a:spcBef>
                <a:spcPts val="450"/>
              </a:spcBef>
            </a:pPr>
            <a:r>
              <a:rPr lang="en-US" sz="26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11074" y="4762272"/>
            <a:ext cx="3267075" cy="702183"/>
          </a:xfrm>
          <a:prstGeom prst="rect"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为满足特定需求，如素食、低盐等，提供特殊配方的食品。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495" y="2673647"/>
            <a:ext cx="3267075" cy="6858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如即食饭、汤、罐头等，方便快捷，但营养成分相对较低。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4495" y="4762272"/>
            <a:ext cx="3267075" cy="685800"/>
          </a:xfrm>
          <a:prstGeom prst="rect"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使用特殊的烹饪设备，如微波加热器，对食品进行加热处理。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6" name="AutoShape 26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5" name="AutoShape 45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太空食品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2076105" y="2148223"/>
            <a:ext cx="9119960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3"/>
          <p:cNvSpPr txBox="1"/>
          <p:nvPr/>
        </p:nvSpPr>
        <p:spPr>
          <a:xfrm>
            <a:off x="2130122" y="1133367"/>
            <a:ext cx="4521094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有氧运动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7265" y="1629392"/>
            <a:ext cx="10138810" cy="350901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如跑步、骑自行车等，有助于提高心肺功能和耐力。</a:t>
            </a:r>
          </a:p>
        </p:txBody>
      </p:sp>
      <p:sp>
        <p:nvSpPr>
          <p:cNvPr id="5" name="AutoShape 5"/>
          <p:cNvSpPr/>
          <p:nvPr/>
        </p:nvSpPr>
        <p:spPr>
          <a:xfrm rot="2700000">
            <a:off x="869478" y="1627599"/>
            <a:ext cx="1044352" cy="1044352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1106151" y="1893154"/>
            <a:ext cx="513241" cy="513241"/>
          </a:xfrm>
          <a:custGeom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cxnSp>
        <p:nvCxnSpPr>
          <p:cNvPr id="7" name="Connector 7"/>
          <p:cNvCxnSpPr/>
          <p:nvPr/>
        </p:nvCxnSpPr>
        <p:spPr>
          <a:xfrm>
            <a:off x="2454057" y="3429801"/>
            <a:ext cx="9119960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2508074" y="2414945"/>
            <a:ext cx="4521094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重力抵抗训练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5217" y="2910971"/>
            <a:ext cx="10138810" cy="350901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通过使用特殊的器械，模拟重力环境，增强肌肉力量。</a:t>
            </a:r>
          </a:p>
        </p:txBody>
      </p:sp>
      <p:sp>
        <p:nvSpPr>
          <p:cNvPr id="10" name="AutoShape 10"/>
          <p:cNvSpPr/>
          <p:nvPr/>
        </p:nvSpPr>
        <p:spPr>
          <a:xfrm rot="2700000">
            <a:off x="1247430" y="2909177"/>
            <a:ext cx="1044352" cy="1044352"/>
          </a:xfrm>
          <a:prstGeom prst="teardrop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11" name="Connector 11"/>
          <p:cNvCxnSpPr/>
          <p:nvPr/>
        </p:nvCxnSpPr>
        <p:spPr>
          <a:xfrm>
            <a:off x="2076105" y="4711380"/>
            <a:ext cx="9119960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2"/>
          <p:cNvSpPr txBox="1"/>
          <p:nvPr/>
        </p:nvSpPr>
        <p:spPr>
          <a:xfrm>
            <a:off x="2130122" y="3696523"/>
            <a:ext cx="4521094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灵活性训练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67265" y="4192549"/>
            <a:ext cx="10138810" cy="350901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进行伸展和柔韧性训练，预防肌肉萎缩和骨骼退化。</a:t>
            </a:r>
          </a:p>
        </p:txBody>
      </p:sp>
      <p:sp>
        <p:nvSpPr>
          <p:cNvPr id="14" name="AutoShape 14"/>
          <p:cNvSpPr/>
          <p:nvPr/>
        </p:nvSpPr>
        <p:spPr>
          <a:xfrm rot="2700000">
            <a:off x="869478" y="4190755"/>
            <a:ext cx="1044352" cy="1044352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/>
        </p:nvCxnSpPr>
        <p:spPr>
          <a:xfrm>
            <a:off x="2454057" y="5992957"/>
            <a:ext cx="9119960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/>
        </p:nvSpPr>
        <p:spPr>
          <a:xfrm>
            <a:off x="2508074" y="4978101"/>
            <a:ext cx="4521094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心理调节活动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5217" y="5474127"/>
            <a:ext cx="10138810" cy="350901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进行瑜伽、冥想等放松身心的活动，缓解心理压力。</a:t>
            </a:r>
          </a:p>
        </p:txBody>
      </p:sp>
      <p:sp>
        <p:nvSpPr>
          <p:cNvPr id="18" name="AutoShape 18"/>
          <p:cNvSpPr/>
          <p:nvPr/>
        </p:nvSpPr>
        <p:spPr>
          <a:xfrm rot="2700000">
            <a:off x="1247430" y="5472333"/>
            <a:ext cx="1044352" cy="1044352"/>
          </a:xfrm>
          <a:prstGeom prst="teardrop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-2700000">
            <a:off x="1437430" y="3136214"/>
            <a:ext cx="604615" cy="604615"/>
          </a:xfrm>
          <a:custGeom>
            <a:rect l="l" t="t" r="r" b="b"/>
            <a:pathLst>
              <a:path w="304800" h="304800">
                <a:moveTo>
                  <a:pt x="222609" y="281264"/>
                </a:moveTo>
                <a:cubicBezTo>
                  <a:pt x="222609" y="281264"/>
                  <a:pt x="225800" y="262099"/>
                  <a:pt x="206121" y="238696"/>
                </a:cubicBezTo>
                <a:cubicBezTo>
                  <a:pt x="225276" y="184966"/>
                  <a:pt x="227933" y="136036"/>
                  <a:pt x="227933" y="136036"/>
                </a:cubicBezTo>
                <a:cubicBezTo>
                  <a:pt x="227933" y="136036"/>
                  <a:pt x="267300" y="145085"/>
                  <a:pt x="267300" y="183909"/>
                </a:cubicBezTo>
                <a:cubicBezTo>
                  <a:pt x="267291" y="250403"/>
                  <a:pt x="222609" y="281264"/>
                  <a:pt x="222609" y="281264"/>
                </a:cubicBezTo>
                <a:close/>
                <a:moveTo>
                  <a:pt x="114100" y="257918"/>
                </a:moveTo>
                <a:cubicBezTo>
                  <a:pt x="114100" y="257918"/>
                  <a:pt x="87735" y="173307"/>
                  <a:pt x="87735" y="138208"/>
                </a:cubicBezTo>
                <a:cubicBezTo>
                  <a:pt x="87735" y="122415"/>
                  <a:pt x="89516" y="108366"/>
                  <a:pt x="92288" y="95612"/>
                </a:cubicBezTo>
                <a:lnTo>
                  <a:pt x="212398" y="95612"/>
                </a:lnTo>
                <a:cubicBezTo>
                  <a:pt x="215189" y="108375"/>
                  <a:pt x="216980" y="122434"/>
                  <a:pt x="216980" y="138217"/>
                </a:cubicBezTo>
                <a:cubicBezTo>
                  <a:pt x="216980" y="172784"/>
                  <a:pt x="190691" y="257918"/>
                  <a:pt x="190691" y="257918"/>
                </a:cubicBezTo>
                <a:lnTo>
                  <a:pt x="114100" y="257918"/>
                </a:lnTo>
                <a:close/>
                <a:moveTo>
                  <a:pt x="152305" y="114957"/>
                </a:moveTo>
                <a:cubicBezTo>
                  <a:pt x="138798" y="114957"/>
                  <a:pt x="127845" y="125911"/>
                  <a:pt x="127845" y="139427"/>
                </a:cubicBezTo>
                <a:cubicBezTo>
                  <a:pt x="127845" y="152933"/>
                  <a:pt x="138798" y="163897"/>
                  <a:pt x="152305" y="163897"/>
                </a:cubicBezTo>
                <a:cubicBezTo>
                  <a:pt x="165811" y="163897"/>
                  <a:pt x="176774" y="152943"/>
                  <a:pt x="176774" y="139427"/>
                </a:cubicBezTo>
                <a:cubicBezTo>
                  <a:pt x="176784" y="125911"/>
                  <a:pt x="165821" y="114957"/>
                  <a:pt x="152305" y="114957"/>
                </a:cubicBezTo>
                <a:close/>
                <a:moveTo>
                  <a:pt x="147047" y="5677"/>
                </a:moveTo>
                <a:lnTo>
                  <a:pt x="147047" y="-27642"/>
                </a:lnTo>
                <a:lnTo>
                  <a:pt x="156572" y="-27642"/>
                </a:lnTo>
                <a:lnTo>
                  <a:pt x="156572" y="4829"/>
                </a:lnTo>
                <a:cubicBezTo>
                  <a:pt x="167459" y="12754"/>
                  <a:pt x="196920" y="37957"/>
                  <a:pt x="210245" y="86506"/>
                </a:cubicBezTo>
                <a:lnTo>
                  <a:pt x="94421" y="86506"/>
                </a:lnTo>
                <a:cubicBezTo>
                  <a:pt x="107299" y="39291"/>
                  <a:pt x="135341" y="14364"/>
                  <a:pt x="147047" y="5677"/>
                </a:cubicBezTo>
                <a:close/>
                <a:moveTo>
                  <a:pt x="82191" y="281264"/>
                </a:moveTo>
                <a:cubicBezTo>
                  <a:pt x="82191" y="281264"/>
                  <a:pt x="37509" y="250403"/>
                  <a:pt x="37509" y="183909"/>
                </a:cubicBezTo>
                <a:cubicBezTo>
                  <a:pt x="37509" y="145085"/>
                  <a:pt x="76876" y="136036"/>
                  <a:pt x="76876" y="136036"/>
                </a:cubicBezTo>
                <a:cubicBezTo>
                  <a:pt x="76876" y="136036"/>
                  <a:pt x="79534" y="184966"/>
                  <a:pt x="98679" y="238697"/>
                </a:cubicBezTo>
                <a:cubicBezTo>
                  <a:pt x="78991" y="262109"/>
                  <a:pt x="82191" y="281264"/>
                  <a:pt x="82191" y="281264"/>
                </a:cubicBezTo>
                <a:close/>
                <a:moveTo>
                  <a:pt x="168507" y="286179"/>
                </a:moveTo>
                <a:lnTo>
                  <a:pt x="160525" y="278197"/>
                </a:lnTo>
                <a:lnTo>
                  <a:pt x="152019" y="304800"/>
                </a:lnTo>
                <a:lnTo>
                  <a:pt x="141903" y="278197"/>
                </a:lnTo>
                <a:lnTo>
                  <a:pt x="134988" y="292017"/>
                </a:lnTo>
                <a:lnTo>
                  <a:pt x="124873" y="267014"/>
                </a:lnTo>
                <a:lnTo>
                  <a:pt x="179661" y="267014"/>
                </a:lnTo>
                <a:lnTo>
                  <a:pt x="168507" y="28617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0" name="Freeform 20"/>
          <p:cNvSpPr/>
          <p:nvPr/>
        </p:nvSpPr>
        <p:spPr>
          <a:xfrm>
            <a:off x="1103936" y="4387558"/>
            <a:ext cx="575435" cy="575435"/>
          </a:xfrm>
          <a:custGeom>
            <a:rect l="l" t="t" r="r" b="b"/>
            <a:pathLst>
              <a:path w="304800" h="304800">
                <a:moveTo>
                  <a:pt x="304800" y="180975"/>
                </a:moveTo>
                <a:lnTo>
                  <a:pt x="247650" y="123825"/>
                </a:lnTo>
                <a:lnTo>
                  <a:pt x="247650" y="38100"/>
                </a:lnTo>
                <a:lnTo>
                  <a:pt x="209550" y="38100"/>
                </a:lnTo>
                <a:lnTo>
                  <a:pt x="209550" y="85725"/>
                </a:lnTo>
                <a:lnTo>
                  <a:pt x="152400" y="28575"/>
                </a:lnTo>
                <a:lnTo>
                  <a:pt x="0" y="180975"/>
                </a:lnTo>
                <a:lnTo>
                  <a:pt x="0" y="190500"/>
                </a:lnTo>
                <a:lnTo>
                  <a:pt x="38100" y="190500"/>
                </a:lnTo>
                <a:lnTo>
                  <a:pt x="38100" y="285750"/>
                </a:lnTo>
                <a:lnTo>
                  <a:pt x="133350" y="285750"/>
                </a:lnTo>
                <a:lnTo>
                  <a:pt x="133350" y="228600"/>
                </a:lnTo>
                <a:lnTo>
                  <a:pt x="171450" y="228600"/>
                </a:lnTo>
                <a:lnTo>
                  <a:pt x="171450" y="285750"/>
                </a:lnTo>
                <a:lnTo>
                  <a:pt x="266700" y="285750"/>
                </a:lnTo>
                <a:lnTo>
                  <a:pt x="266700" y="190500"/>
                </a:lnTo>
                <a:lnTo>
                  <a:pt x="304800" y="1905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1" name="Freeform 21"/>
          <p:cNvSpPr/>
          <p:nvPr/>
        </p:nvSpPr>
        <p:spPr>
          <a:xfrm>
            <a:off x="1532320" y="5719567"/>
            <a:ext cx="474573" cy="474573"/>
          </a:xfrm>
          <a:custGeom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grpSp>
        <p:nvGrpSpPr>
          <p:cNvPr id="22" name="Group 22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3" name="AutoShape 23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太空运动与健身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561216" y="4243912"/>
            <a:ext cx="3516683" cy="0"/>
          </a:xfrm>
          <a:prstGeom prst="line"/>
          <a:ln w="9525">
            <a:solidFill>
              <a:schemeClr val="accent2"/>
            </a:solidFill>
            <a:prstDash val="solid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7176058" y="3006206"/>
            <a:ext cx="4235096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957845" y="4275469"/>
            <a:ext cx="4261650" cy="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5"/>
          <p:cNvSpPr txBox="1"/>
          <p:nvPr/>
        </p:nvSpPr>
        <p:spPr>
          <a:xfrm>
            <a:off x="232857" y="1242185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睡眠环境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117" y="1798064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提供舒适的睡眠设施，如床铺、睡袋和枕头等。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957845" y="3006206"/>
            <a:ext cx="3739643" cy="0"/>
          </a:xfrm>
          <a:prstGeom prst="line"/>
          <a:ln w="9525">
            <a:solidFill>
              <a:schemeClr val="accent2"/>
            </a:solidFill>
            <a:prstDash val="solid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7557448" y="1242185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睡眠姿势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7448" y="1798064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由于失重环境，宇航员需要采用特殊的睡眠姿势，如固定在睡袋中。</a:t>
            </a:r>
          </a:p>
        </p:txBody>
      </p:sp>
      <p:sp>
        <p:nvSpPr>
          <p:cNvPr id="10" name="Freeform 10"/>
          <p:cNvSpPr/>
          <p:nvPr/>
        </p:nvSpPr>
        <p:spPr>
          <a:xfrm>
            <a:off x="4466824" y="2523538"/>
            <a:ext cx="905462" cy="905462"/>
          </a:xfrm>
          <a:custGeom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1" name="Freeform 11"/>
          <p:cNvSpPr/>
          <p:nvPr/>
        </p:nvSpPr>
        <p:spPr>
          <a:xfrm>
            <a:off x="4820729" y="3207577"/>
            <a:ext cx="1665683" cy="1665683"/>
          </a:xfrm>
          <a:custGeom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6220648" y="2409031"/>
            <a:ext cx="1019969" cy="1019969"/>
          </a:xfrm>
          <a:custGeom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6682449" y="3207577"/>
            <a:ext cx="1283490" cy="1283490"/>
          </a:xfrm>
          <a:custGeom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4" name="TextBox 14"/>
          <p:cNvSpPr txBox="1"/>
          <p:nvPr/>
        </p:nvSpPr>
        <p:spPr>
          <a:xfrm>
            <a:off x="232857" y="4526275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睡眠限制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117" y="5082154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由于太空中的时间和地球上的时间存在差异，宇航员需要适应时差和睡眠限制。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72066" y="4516031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心理调节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72066" y="5071910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通过放松训练和心理辅导，帮助宇航员保持良好的睡眠质量。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9" name="AutoShape 19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太空睡眠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623" y="1744442"/>
            <a:ext cx="950685" cy="826132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446458" y="1867338"/>
            <a:ext cx="3087014" cy="580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075" b="1" dirty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1305" y="2643681"/>
            <a:ext cx="8975750" cy="2104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宇航员在太空中的工作与任务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6033" y="1751287"/>
            <a:ext cx="3519940" cy="4234459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3" name="Connector 3"/>
          <p:cNvCxnSpPr/>
          <p:nvPr/>
        </p:nvCxnSpPr>
        <p:spPr>
          <a:xfrm>
            <a:off x="1068653" y="2719942"/>
            <a:ext cx="2654699" cy="0"/>
          </a:xfrm>
          <a:prstGeom prst="line"/>
          <a:ln w="9525">
            <a:solidFill>
              <a:srgbClr val="FFFFFF">
                <a:alpha val="100000"/>
              </a:srgbClr>
            </a:solidFill>
            <a:prstDash val="solid"/>
          </a:ln>
        </p:spPr>
      </p:cxnSp>
      <p:sp>
        <p:nvSpPr>
          <p:cNvPr id="4" name="TextBox 4"/>
          <p:cNvSpPr txBox="1"/>
          <p:nvPr/>
        </p:nvSpPr>
        <p:spPr>
          <a:xfrm>
            <a:off x="1084612" y="1775671"/>
            <a:ext cx="2619375" cy="9334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23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实验研究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4460" y="2924197"/>
            <a:ext cx="3000375" cy="2752725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宇航员在太空中进行各种实验，涉及物理、化学、生物学等领域，以探索太空中的未知现象和宇宙奥秘。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403619" y="1751287"/>
            <a:ext cx="3519940" cy="4234459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7" name="Connector 7"/>
          <p:cNvCxnSpPr/>
          <p:nvPr/>
        </p:nvCxnSpPr>
        <p:spPr>
          <a:xfrm>
            <a:off x="4836240" y="2719942"/>
            <a:ext cx="2654699" cy="0"/>
          </a:xfrm>
          <a:prstGeom prst="line"/>
          <a:ln w="9525">
            <a:solidFill>
              <a:srgbClr val="FFFFFF">
                <a:alpha val="100000"/>
              </a:srgbClr>
            </a:solidFill>
            <a:prstDash val="solid"/>
          </a:ln>
        </p:spPr>
      </p:cxnSp>
      <p:sp>
        <p:nvSpPr>
          <p:cNvPr id="8" name="TextBox 8"/>
          <p:cNvSpPr txBox="1"/>
          <p:nvPr/>
        </p:nvSpPr>
        <p:spPr>
          <a:xfrm>
            <a:off x="4852198" y="1775671"/>
            <a:ext cx="2619375" cy="9334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23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观测与探测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62047" y="2924197"/>
            <a:ext cx="3000375" cy="2752725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宇航员负责观测外太空目标，收集数据并传回地球，为科学研究提供宝贵的信息。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71205" y="1751287"/>
            <a:ext cx="3519940" cy="4234459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11" name="Connector 11"/>
          <p:cNvCxnSpPr/>
          <p:nvPr/>
        </p:nvCxnSpPr>
        <p:spPr>
          <a:xfrm>
            <a:off x="8603826" y="2719942"/>
            <a:ext cx="2654699" cy="0"/>
          </a:xfrm>
          <a:prstGeom prst="line"/>
          <a:ln w="9525">
            <a:solidFill>
              <a:srgbClr val="FFFFFF">
                <a:alpha val="100000"/>
              </a:srgbClr>
            </a:solidFill>
            <a:prstDash val="solid"/>
          </a:ln>
        </p:spPr>
      </p:cxnSp>
      <p:sp>
        <p:nvSpPr>
          <p:cNvPr id="12" name="TextBox 12"/>
          <p:cNvSpPr txBox="1"/>
          <p:nvPr/>
        </p:nvSpPr>
        <p:spPr>
          <a:xfrm>
            <a:off x="8619785" y="1775671"/>
            <a:ext cx="2619375" cy="9334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23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技术验证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9633" y="2924197"/>
            <a:ext cx="3000375" cy="2752725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宇航员在太空中验证新设备、技术和方法，为未来的太空探索和开发提供支持。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5" name="AutoShape 15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科研任务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089" y="1514981"/>
            <a:ext cx="932011" cy="932011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990089" y="4677159"/>
            <a:ext cx="2409825" cy="104775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宇航员定期检查航天器上的设备和系统，确保其正常运行和安全性。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089" y="3829496"/>
            <a:ext cx="2409825" cy="4476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设备检查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1095003" y="4507169"/>
            <a:ext cx="2676821" cy="0"/>
          </a:xfrm>
          <a:prstGeom prst="line"/>
          <a:ln w="952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3569918" y="4041523"/>
            <a:ext cx="207264" cy="0"/>
          </a:xfrm>
          <a:prstGeom prst="line"/>
          <a:ln w="38100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Freeform 7"/>
          <p:cNvSpPr/>
          <p:nvPr/>
        </p:nvSpPr>
        <p:spPr>
          <a:xfrm>
            <a:off x="3687773" y="3947812"/>
            <a:ext cx="151723" cy="187422"/>
          </a:xfrm>
          <a:custGeom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4671297" y="1454147"/>
            <a:ext cx="932011" cy="932011"/>
          </a:xfrm>
          <a:prstGeom prst="ellipse"/>
          <a:solidFill>
            <a:schemeClr val="accent2">
              <a:alpha val="100000"/>
            </a:schemeClr>
          </a:soli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5039938" y="1393187"/>
            <a:ext cx="2231507" cy="2231507"/>
          </a:xfrm>
          <a:prstGeom prst="ellipse"/>
        </p:spPr>
      </p:pic>
      <p:sp>
        <p:nvSpPr>
          <p:cNvPr id="10" name="TextBox 10"/>
          <p:cNvSpPr txBox="1"/>
          <p:nvPr/>
        </p:nvSpPr>
        <p:spPr>
          <a:xfrm>
            <a:off x="4671297" y="3829496"/>
            <a:ext cx="2409825" cy="4476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修理与更换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776211" y="4446335"/>
            <a:ext cx="2676821" cy="0"/>
          </a:xfrm>
          <a:prstGeom prst="line"/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" name="Connector 12"/>
          <p:cNvCxnSpPr/>
          <p:nvPr/>
        </p:nvCxnSpPr>
        <p:spPr>
          <a:xfrm>
            <a:off x="7251125" y="4041523"/>
            <a:ext cx="207264" cy="0"/>
          </a:xfrm>
          <a:prstGeom prst="line"/>
          <a:ln w="38100">
            <a:solidFill>
              <a:schemeClr val="accent2"/>
            </a:solidFill>
            <a:prstDash val="solid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3" name="Freeform 13"/>
          <p:cNvSpPr/>
          <p:nvPr/>
        </p:nvSpPr>
        <p:spPr>
          <a:xfrm>
            <a:off x="7368981" y="3947812"/>
            <a:ext cx="151723" cy="187422"/>
          </a:xfrm>
          <a:custGeom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73015" y="1454147"/>
            <a:ext cx="932011" cy="932011"/>
          </a:xfrm>
          <a:prstGeom prst="ellipse"/>
          <a:solidFill>
            <a:schemeClr val="accent1">
              <a:alpha val="100000"/>
            </a:schemeClr>
          </a:solidFill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208" b="208"/>
          <a:stretch>
            <a:fillRect/>
          </a:stretch>
        </p:blipFill>
        <p:spPr>
          <a:xfrm>
            <a:off x="8741656" y="1393187"/>
            <a:ext cx="2231507" cy="2231507"/>
          </a:xfrm>
          <a:prstGeom prst="ellipse"/>
        </p:spPr>
      </p:pic>
      <p:sp>
        <p:nvSpPr>
          <p:cNvPr id="16" name="TextBox 16"/>
          <p:cNvSpPr txBox="1"/>
          <p:nvPr/>
        </p:nvSpPr>
        <p:spPr>
          <a:xfrm>
            <a:off x="8373015" y="3829496"/>
            <a:ext cx="2409825" cy="44767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物资补给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8477928" y="4446335"/>
            <a:ext cx="2676821" cy="0"/>
          </a:xfrm>
          <a:prstGeom prst="line"/>
          <a:ln w="952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or 18"/>
          <p:cNvCxnSpPr/>
          <p:nvPr/>
        </p:nvCxnSpPr>
        <p:spPr>
          <a:xfrm>
            <a:off x="10952843" y="4041523"/>
            <a:ext cx="207264" cy="0"/>
          </a:xfrm>
          <a:prstGeom prst="line"/>
          <a:ln w="38100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Freeform 19"/>
          <p:cNvSpPr/>
          <p:nvPr/>
        </p:nvSpPr>
        <p:spPr>
          <a:xfrm>
            <a:off x="11070699" y="3947812"/>
            <a:ext cx="151723" cy="187422"/>
          </a:xfrm>
          <a:custGeom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 l="16250" r="16250"/>
          <a:stretch>
            <a:fillRect/>
          </a:stretch>
        </p:blipFill>
        <p:spPr>
          <a:xfrm>
            <a:off x="1358558" y="1454147"/>
            <a:ext cx="2231507" cy="2231507"/>
          </a:xfrm>
          <a:prstGeom prst="ellipse"/>
        </p:spPr>
      </p:pic>
      <p:sp>
        <p:nvSpPr>
          <p:cNvPr id="21" name="TextBox 21"/>
          <p:cNvSpPr txBox="1"/>
          <p:nvPr/>
        </p:nvSpPr>
        <p:spPr>
          <a:xfrm>
            <a:off x="4671297" y="4677159"/>
            <a:ext cx="2409825" cy="104775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当设备出现故障或损坏时，宇航员负责进行修理或更换部件，以维持航天器的正常运行。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3015" y="4677159"/>
            <a:ext cx="2409825" cy="104775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宇航员负责将必要的物资和设备从地球运送到空间站，确保太空生活和工作所需。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92065" y="1604894"/>
            <a:ext cx="581025" cy="457200"/>
          </a:xfrm>
          <a:prstGeom prst="rect"/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90347" y="1604894"/>
            <a:ext cx="578298" cy="437007"/>
          </a:xfrm>
          <a:prstGeom prst="rect"/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564" y="1604894"/>
            <a:ext cx="581025" cy="457200"/>
          </a:xfrm>
          <a:prstGeom prst="rect"/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2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7" name="AutoShape 27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5" name="AutoShape 45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6" name="AutoShape 46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维护与修理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6667" r="16667"/>
          <a:stretch>
            <a:fillRect/>
          </a:stretch>
        </p:blipFill>
        <p:spPr>
          <a:xfrm>
            <a:off x="7092557" y="1559288"/>
            <a:ext cx="4492828" cy="4492828"/>
          </a:xfrm>
          <a:prstGeom prst="round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539110" y="1488377"/>
            <a:ext cx="1511760" cy="1373901"/>
          </a:xfrm>
          <a:custGeom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739477" y="1370655"/>
            <a:ext cx="1111026" cy="161544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539110" y="3205847"/>
            <a:ext cx="1511760" cy="1373901"/>
          </a:xfrm>
          <a:custGeom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739477" y="3088125"/>
            <a:ext cx="1111026" cy="161544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Freeform 7"/>
          <p:cNvSpPr/>
          <p:nvPr/>
        </p:nvSpPr>
        <p:spPr>
          <a:xfrm>
            <a:off x="539110" y="4984278"/>
            <a:ext cx="1511760" cy="1373901"/>
          </a:xfrm>
          <a:custGeom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739477" y="4866556"/>
            <a:ext cx="1111026" cy="161544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48535" y="1715158"/>
            <a:ext cx="4235703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宇航员接受严格的紧急情况处理培训，熟悉各种可能发生的紧急状况及其应对措施。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48535" y="1250513"/>
            <a:ext cx="4219575" cy="6286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应急预案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8535" y="3368732"/>
            <a:ext cx="4235703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在紧急情况下，宇航员需进行初步的医疗急救措施，如心肺复苏、止血等，并及时向地面控制中心报告。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48535" y="2928472"/>
            <a:ext cx="4219575" cy="6286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医疗急救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48535" y="5134585"/>
            <a:ext cx="4235703" cy="134112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在面临严重威胁时，宇航员需迅速撤离到安全区域，并确保航天器的安全，等待地面控制中心的进一步指示和救援。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8535" y="4694325"/>
            <a:ext cx="4219575" cy="6286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撤离与救援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6" name="AutoShape 16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紧急情况处理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623" y="1744442"/>
            <a:ext cx="950685" cy="826132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446458" y="1867338"/>
            <a:ext cx="3087014" cy="580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075" b="1" dirty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1305" y="2643681"/>
            <a:ext cx="8975750" cy="2104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宇航员返回地球的流程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85416" y="3075841"/>
            <a:ext cx="1954703" cy="1969616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660673" y="3426081"/>
            <a:ext cx="2699191" cy="2719784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5288494" y="1513149"/>
            <a:ext cx="1721774" cy="1721774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280421" y="2711491"/>
            <a:ext cx="3039989" cy="12573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在返回地球之前，宇航员需要整理和打包他们在太空中的生活物资，包括实验设备、生活用品和个人物品等。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5399254" y="1623909"/>
            <a:ext cx="1500254" cy="1500254"/>
          </a:xfrm>
          <a:prstGeom prst="ellipse"/>
        </p:spPr>
      </p:pic>
      <p:sp>
        <p:nvSpPr>
          <p:cNvPr id="7" name="TextBox 7"/>
          <p:cNvSpPr txBox="1"/>
          <p:nvPr/>
        </p:nvSpPr>
        <p:spPr>
          <a:xfrm>
            <a:off x="613814" y="2226284"/>
            <a:ext cx="2703493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物资整理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00757" y="1971492"/>
            <a:ext cx="3121877" cy="128739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宇航员需要进行全面的健康检查，以确保他们的身体状况适合返回地球。这包括身体状况、心理状况和视力检查等。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00757" y="1513149"/>
            <a:ext cx="2703493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健康检查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1125" r="11125"/>
          <a:stretch>
            <a:fillRect/>
          </a:stretch>
        </p:blipFill>
        <p:spPr>
          <a:xfrm>
            <a:off x="5820153" y="3595858"/>
            <a:ext cx="2380229" cy="2380229"/>
          </a:xfrm>
          <a:prstGeom prst="ellipse"/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16958" r="16958"/>
          <a:stretch>
            <a:fillRect/>
          </a:stretch>
        </p:blipFill>
        <p:spPr>
          <a:xfrm>
            <a:off x="3637042" y="3234923"/>
            <a:ext cx="1651452" cy="1651452"/>
          </a:xfrm>
          <a:prstGeom prst="ellipse"/>
        </p:spPr>
      </p:pic>
      <p:sp>
        <p:nvSpPr>
          <p:cNvPr id="12" name="TextBox 12"/>
          <p:cNvSpPr txBox="1"/>
          <p:nvPr/>
        </p:nvSpPr>
        <p:spPr>
          <a:xfrm>
            <a:off x="8621512" y="4777233"/>
            <a:ext cx="3219450" cy="12573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为了确保返回过程中的安全，宇航员需要了解返回舱的结构和工作原理，以及应对紧急情况的措施。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1512" y="4318890"/>
            <a:ext cx="2703493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安全准备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5" name="AutoShape 15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返回准备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852" y="4838783"/>
            <a:ext cx="10266726" cy="1333500"/>
            <a:chOff x="1103852" y="4838783"/>
            <a:chExt cx="10266726" cy="1333500"/>
          </a:xfrm>
        </p:grpSpPr>
        <p:sp>
          <p:nvSpPr>
            <p:cNvPr id="3" name="AutoShape 3"/>
            <p:cNvSpPr/>
            <p:nvPr/>
          </p:nvSpPr>
          <p:spPr>
            <a:xfrm>
              <a:off x="2377205" y="4838783"/>
              <a:ext cx="8305833" cy="1333500"/>
            </a:xfrm>
            <a:prstGeom prst="rect"/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  <p:sp>
          <p:nvSpPr>
            <p:cNvPr id="4" name="Freeform 4"/>
            <p:cNvSpPr/>
            <p:nvPr/>
          </p:nvSpPr>
          <p:spPr>
            <a:xfrm rot="10800000">
              <a:off x="1103852" y="4838783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5" name="Freeform 5"/>
            <p:cNvSpPr/>
            <p:nvPr/>
          </p:nvSpPr>
          <p:spPr>
            <a:xfrm rot="10800000">
              <a:off x="9159730" y="4838783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31730" y="3081147"/>
            <a:ext cx="10266726" cy="1333500"/>
            <a:chOff x="1031730" y="3081147"/>
            <a:chExt cx="10266726" cy="1333500"/>
          </a:xfrm>
        </p:grpSpPr>
        <p:sp>
          <p:nvSpPr>
            <p:cNvPr id="7" name="AutoShape 7"/>
            <p:cNvSpPr/>
            <p:nvPr/>
          </p:nvSpPr>
          <p:spPr>
            <a:xfrm>
              <a:off x="2305083" y="3081147"/>
              <a:ext cx="8305833" cy="1333500"/>
            </a:xfrm>
            <a:prstGeom prst="rect"/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  <p:sp>
          <p:nvSpPr>
            <p:cNvPr id="8" name="Freeform 8"/>
            <p:cNvSpPr/>
            <p:nvPr/>
          </p:nvSpPr>
          <p:spPr>
            <a:xfrm rot="10800000">
              <a:off x="1031730" y="3081147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  <p:sp>
          <p:nvSpPr>
            <p:cNvPr id="9" name="Freeform 9"/>
            <p:cNvSpPr/>
            <p:nvPr/>
          </p:nvSpPr>
          <p:spPr>
            <a:xfrm rot="10800000">
              <a:off x="9087608" y="3081147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03852" y="1348302"/>
            <a:ext cx="10266726" cy="1333500"/>
            <a:chOff x="1103852" y="1348302"/>
            <a:chExt cx="10266726" cy="1333500"/>
          </a:xfrm>
        </p:grpSpPr>
        <p:sp>
          <p:nvSpPr>
            <p:cNvPr id="11" name="AutoShape 11"/>
            <p:cNvSpPr/>
            <p:nvPr/>
          </p:nvSpPr>
          <p:spPr>
            <a:xfrm>
              <a:off x="2377205" y="1348302"/>
              <a:ext cx="8305833" cy="1333500"/>
            </a:xfrm>
            <a:prstGeom prst="rect"/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  <p:sp>
          <p:nvSpPr>
            <p:cNvPr id="12" name="Freeform 12"/>
            <p:cNvSpPr/>
            <p:nvPr/>
          </p:nvSpPr>
          <p:spPr>
            <a:xfrm rot="10800000">
              <a:off x="1103852" y="1348302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3" name="Freeform 13"/>
            <p:cNvSpPr/>
            <p:nvPr/>
          </p:nvSpPr>
          <p:spPr>
            <a:xfrm rot="10800000">
              <a:off x="9159730" y="1348302"/>
              <a:ext cx="2210848" cy="1333500"/>
            </a:xfrm>
            <a:custGeom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997333" y="3400044"/>
            <a:ext cx="685705" cy="695706"/>
            <a:chOff x="9997333" y="3400044"/>
            <a:chExt cx="685705" cy="695706"/>
          </a:xfrm>
        </p:grpSpPr>
        <p:sp>
          <p:nvSpPr>
            <p:cNvPr id="15" name="Freeform 15"/>
            <p:cNvSpPr/>
            <p:nvPr/>
          </p:nvSpPr>
          <p:spPr>
            <a:xfrm>
              <a:off x="10034290" y="3847243"/>
              <a:ext cx="87725" cy="163068"/>
            </a:xfrm>
            <a:custGeom>
              <a:rect l="l" t="t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0177260" y="3757422"/>
              <a:ext cx="87725" cy="252984"/>
            </a:xfrm>
            <a:custGeom>
              <a:rect l="l" t="t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0320231" y="3757422"/>
              <a:ext cx="87725" cy="252984"/>
            </a:xfrm>
            <a:custGeom>
              <a:rect l="l" t="t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0459962" y="3670840"/>
              <a:ext cx="94202" cy="342805"/>
            </a:xfrm>
            <a:custGeom>
              <a:rect l="l" t="t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0011525" y="3517678"/>
              <a:ext cx="536162" cy="342805"/>
            </a:xfrm>
            <a:custGeom>
              <a:rect l="l" t="t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9997333" y="3400044"/>
              <a:ext cx="685705" cy="695706"/>
            </a:xfrm>
            <a:custGeom>
              <a:rect l="l" t="t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1935480" y="1646434"/>
            <a:ext cx="719895" cy="555403"/>
          </a:xfrm>
          <a:custGeom>
            <a:rect l="l" t="t" r="r" b="b"/>
            <a:pathLst>
              <a:path w="67" h="60">
                <a:moveTo>
                  <a:pt x="53" y="2"/>
                </a:moveTo>
                <a:cubicBezTo>
                  <a:pt x="53" y="1"/>
                  <a:pt x="52" y="0"/>
                  <a:pt x="51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4" y="1"/>
                  <a:pt x="44" y="2"/>
                </a:cubicBezTo>
                <a:cubicBezTo>
                  <a:pt x="44" y="5"/>
                  <a:pt x="44" y="5"/>
                  <a:pt x="44" y="5"/>
                </a:cubicBezTo>
                <a:cubicBezTo>
                  <a:pt x="53" y="14"/>
                  <a:pt x="53" y="14"/>
                  <a:pt x="53" y="14"/>
                </a:cubicBezTo>
                <a:lnTo>
                  <a:pt x="53" y="2"/>
                </a:lnTo>
                <a:close/>
                <a:moveTo>
                  <a:pt x="66" y="31"/>
                </a:moveTo>
                <a:cubicBezTo>
                  <a:pt x="36" y="2"/>
                  <a:pt x="36" y="2"/>
                  <a:pt x="36" y="2"/>
                </a:cubicBezTo>
                <a:cubicBezTo>
                  <a:pt x="35" y="0"/>
                  <a:pt x="33" y="0"/>
                  <a:pt x="31" y="2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3"/>
                  <a:pt x="0" y="35"/>
                  <a:pt x="2" y="36"/>
                </a:cubicBezTo>
                <a:cubicBezTo>
                  <a:pt x="2" y="37"/>
                  <a:pt x="3" y="37"/>
                  <a:pt x="4" y="37"/>
                </a:cubicBezTo>
                <a:cubicBezTo>
                  <a:pt x="5" y="37"/>
                  <a:pt x="6" y="37"/>
                  <a:pt x="7" y="36"/>
                </a:cubicBezTo>
                <a:cubicBezTo>
                  <a:pt x="34" y="9"/>
                  <a:pt x="34" y="9"/>
                  <a:pt x="34" y="9"/>
                </a:cubicBezTo>
                <a:cubicBezTo>
                  <a:pt x="61" y="36"/>
                  <a:pt x="61" y="36"/>
                  <a:pt x="61" y="36"/>
                </a:cubicBezTo>
                <a:cubicBezTo>
                  <a:pt x="62" y="38"/>
                  <a:pt x="65" y="38"/>
                  <a:pt x="66" y="36"/>
                </a:cubicBezTo>
                <a:cubicBezTo>
                  <a:pt x="67" y="35"/>
                  <a:pt x="67" y="33"/>
                  <a:pt x="66" y="31"/>
                </a:cubicBezTo>
                <a:close/>
                <a:moveTo>
                  <a:pt x="9" y="37"/>
                </a:moveTo>
                <a:cubicBezTo>
                  <a:pt x="9" y="57"/>
                  <a:pt x="9" y="57"/>
                  <a:pt x="9" y="57"/>
                </a:cubicBezTo>
                <a:cubicBezTo>
                  <a:pt x="9" y="59"/>
                  <a:pt x="11" y="60"/>
                  <a:pt x="13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8" y="42"/>
                  <a:pt x="28" y="42"/>
                  <a:pt x="28" y="42"/>
                </a:cubicBezTo>
                <a:cubicBezTo>
                  <a:pt x="28" y="42"/>
                  <a:pt x="29" y="41"/>
                  <a:pt x="29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9" y="41"/>
                  <a:pt x="39" y="42"/>
                  <a:pt x="39" y="42"/>
                </a:cubicBezTo>
                <a:cubicBezTo>
                  <a:pt x="39" y="60"/>
                  <a:pt x="39" y="60"/>
                  <a:pt x="39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7" y="60"/>
                  <a:pt x="58" y="59"/>
                  <a:pt x="58" y="57"/>
                </a:cubicBezTo>
                <a:cubicBezTo>
                  <a:pt x="58" y="38"/>
                  <a:pt x="58" y="38"/>
                  <a:pt x="58" y="38"/>
                </a:cubicBezTo>
                <a:cubicBezTo>
                  <a:pt x="34" y="13"/>
                  <a:pt x="34" y="13"/>
                  <a:pt x="34" y="13"/>
                </a:cubicBezTo>
                <a:lnTo>
                  <a:pt x="9" y="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2" name="Freeform 22"/>
          <p:cNvSpPr/>
          <p:nvPr/>
        </p:nvSpPr>
        <p:spPr>
          <a:xfrm>
            <a:off x="1975414" y="5261363"/>
            <a:ext cx="613870" cy="613870"/>
          </a:xfrm>
          <a:custGeom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grpSp>
        <p:nvGrpSpPr>
          <p:cNvPr id="23" name="Group 23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4" name="AutoShape 24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返回舱发射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14700" y="5303594"/>
            <a:ext cx="7382690" cy="863070"/>
            <a:chOff x="3314700" y="5303594"/>
            <a:chExt cx="7382690" cy="863070"/>
          </a:xfrm>
        </p:grpSpPr>
        <p:sp>
          <p:nvSpPr>
            <p:cNvPr id="46" name="TextBox 46"/>
            <p:cNvSpPr txBox="1"/>
            <p:nvPr/>
          </p:nvSpPr>
          <p:spPr>
            <a:xfrm>
              <a:off x="3314700" y="5303594"/>
              <a:ext cx="7382690" cy="863070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返回舱进入大气层时，会受到极高的温度和压力，因此需要进行隔热保护，以确保舱内温度适宜且不会对设备造成损坏。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314700" y="4838783"/>
            <a:ext cx="7382690" cy="490334"/>
            <a:chOff x="3314700" y="4838783"/>
            <a:chExt cx="7382690" cy="490334"/>
          </a:xfrm>
        </p:grpSpPr>
        <p:sp>
          <p:nvSpPr>
            <p:cNvPr id="48" name="TextBox 48"/>
            <p:cNvSpPr txBox="1"/>
            <p:nvPr/>
          </p:nvSpPr>
          <p:spPr>
            <a:xfrm>
              <a:off x="3314700" y="4838783"/>
              <a:ext cx="7382690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隔热保护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56760" y="1771107"/>
            <a:ext cx="7382690" cy="863070"/>
            <a:chOff x="3456760" y="1771107"/>
            <a:chExt cx="7382690" cy="863070"/>
          </a:xfrm>
        </p:grpSpPr>
        <p:sp>
          <p:nvSpPr>
            <p:cNvPr id="50" name="TextBox 50"/>
            <p:cNvSpPr txBox="1"/>
            <p:nvPr/>
          </p:nvSpPr>
          <p:spPr>
            <a:xfrm>
              <a:off x="3456760" y="1771107"/>
              <a:ext cx="7382690" cy="863070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在返回舱发射前，需要进行详细的检查，确保所有系统正常工作，没有故障或异常情况。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456760" y="1395927"/>
            <a:ext cx="7293402" cy="490334"/>
            <a:chOff x="3456760" y="1395927"/>
            <a:chExt cx="7293402" cy="490334"/>
          </a:xfrm>
        </p:grpSpPr>
        <p:sp>
          <p:nvSpPr>
            <p:cNvPr id="52" name="TextBox 52"/>
            <p:cNvSpPr txBox="1"/>
            <p:nvPr/>
          </p:nvSpPr>
          <p:spPr>
            <a:xfrm>
              <a:off x="3456760" y="1395927"/>
              <a:ext cx="7293402" cy="490334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17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发射前检查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04918" y="3545958"/>
            <a:ext cx="7382690" cy="863070"/>
            <a:chOff x="1704918" y="3545958"/>
            <a:chExt cx="7382690" cy="863070"/>
          </a:xfrm>
        </p:grpSpPr>
        <p:sp>
          <p:nvSpPr>
            <p:cNvPr id="54" name="TextBox 54"/>
            <p:cNvSpPr txBox="1"/>
            <p:nvPr/>
          </p:nvSpPr>
          <p:spPr>
            <a:xfrm>
              <a:off x="1704918" y="3545958"/>
              <a:ext cx="7382690" cy="863070"/>
            </a:xfrm>
            <a:prstGeom prst="rect"/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 dirty="1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返回舱与国际空间站分离后，通过使用火箭发动机进行减速，然后进入地球大气层。在进入大气层之前，需要进行轨道修正以确保准确返回。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704918" y="3081147"/>
            <a:ext cx="7382690" cy="490334"/>
            <a:chOff x="1704918" y="3081147"/>
            <a:chExt cx="7382690" cy="490334"/>
          </a:xfrm>
        </p:grpSpPr>
        <p:sp>
          <p:nvSpPr>
            <p:cNvPr id="56" name="TextBox 56"/>
            <p:cNvSpPr txBox="1"/>
            <p:nvPr/>
          </p:nvSpPr>
          <p:spPr>
            <a:xfrm>
              <a:off x="1704918" y="3081147"/>
              <a:ext cx="7382690" cy="490334"/>
            </a:xfrm>
            <a:prstGeom prst="rect"/>
          </p:spPr>
          <p:txBody>
            <a:bodyPr vert="horz" wrap="square" lIns="66008" tIns="33052" rIns="66008" bIns="33052" rtlCol="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发射过程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1209188" y="1082466"/>
            <a:ext cx="0" cy="5775534"/>
          </a:xfrm>
          <a:prstGeom prst="line"/>
          <a:ln w="19050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AutoShape 3"/>
          <p:cNvSpPr/>
          <p:nvPr/>
        </p:nvSpPr>
        <p:spPr>
          <a:xfrm>
            <a:off x="873196" y="1332346"/>
            <a:ext cx="669478" cy="669478"/>
          </a:xfrm>
          <a:prstGeom prst="ellipse"/>
          <a:solidFill>
            <a:schemeClr val="accent2">
              <a:alpha val="42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988282" y="1447432"/>
            <a:ext cx="439305" cy="439305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2152036" y="1308906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 rot="-5400000">
            <a:off x="1919801" y="1473900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2152036" y="3067327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-5400000">
            <a:off x="1919801" y="3232320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2152036" y="4825747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 rot="-5400000">
            <a:off x="1919801" y="4990741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2373184" y="1262276"/>
            <a:ext cx="7153570" cy="731520"/>
          </a:xfrm>
          <a:prstGeom prst="rect"/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重力再适应过程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2823" y="2048316"/>
            <a:ext cx="8972550" cy="8953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宇航员在太空中生活时处于微重力状态，返回地球后需要重新适应重力。这可能导致宇航员出现头晕、恶心、肌肉无力等症状。为了减轻这些症状，宇航员需要进行适当的锻炼和休息。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93609" y="3024192"/>
            <a:ext cx="7153570" cy="731520"/>
          </a:xfrm>
          <a:prstGeom prst="rect"/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医疗观察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2823" y="3785029"/>
            <a:ext cx="8943975" cy="895350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在返回地球后，宇航员需要接受医疗观察和检查，以确保他们的身体状况稳定并排除任何潜在的健康问题。这可能包括持续的心电监测、血压测量和医学影像检查等。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30185" y="4789171"/>
            <a:ext cx="7153570" cy="731520"/>
          </a:xfrm>
          <a:prstGeom prst="rect"/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 dirty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心理支持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91111" y="5543449"/>
            <a:ext cx="8915400" cy="962025"/>
          </a:xfrm>
          <a:prstGeom prst="rect"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重新适应地球的生活对于宇航员来说可能是一个挑战，因此提供心理支持也是非常重要的。这可能包括与心理医生进行交流、参加适应性训练和提供家庭支持等。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73196" y="3067327"/>
            <a:ext cx="669478" cy="669478"/>
          </a:xfrm>
          <a:prstGeom prst="ellipse"/>
          <a:solidFill>
            <a:schemeClr val="accent2">
              <a:alpha val="42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988282" y="3182413"/>
            <a:ext cx="439305" cy="439305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873196" y="4825747"/>
            <a:ext cx="669478" cy="669478"/>
          </a:xfrm>
          <a:prstGeom prst="ellipse"/>
          <a:solidFill>
            <a:schemeClr val="accent2">
              <a:alpha val="42000"/>
            </a:schemeClr>
          </a:solidFill>
        </p:spPr>
      </p:sp>
      <p:sp>
        <p:nvSpPr>
          <p:cNvPr id="20" name="AutoShape 20"/>
          <p:cNvSpPr/>
          <p:nvPr/>
        </p:nvSpPr>
        <p:spPr>
          <a:xfrm>
            <a:off x="988282" y="4940833"/>
            <a:ext cx="439305" cy="439305"/>
          </a:xfrm>
          <a:prstGeom prst="ellipse"/>
          <a:solidFill>
            <a:schemeClr val="accent1">
              <a:alpha val="100000"/>
            </a:schemeClr>
          </a:solidFill>
        </p:spPr>
      </p:sp>
      <p:grpSp>
        <p:nvGrpSpPr>
          <p:cNvPr id="21" name="Group 2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2" name="AutoShape 22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重力再适应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623" y="1744442"/>
            <a:ext cx="950685" cy="826132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446458" y="1867338"/>
            <a:ext cx="3087014" cy="580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075" b="1" dirty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1305" y="2643681"/>
            <a:ext cx="8975750" cy="210433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 dirty="1">
                <a:solidFill>
                  <a:schemeClr val="accent3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宇航员在太空中的健康与安全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1296416" y="4399620"/>
            <a:ext cx="2492359" cy="474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AutoShape 3"/>
          <p:cNvSpPr/>
          <p:nvPr/>
        </p:nvSpPr>
        <p:spPr>
          <a:xfrm rot="-3859086" flipV="1">
            <a:off x="1527125" y="1469413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1338084" y="4590395"/>
            <a:ext cx="2450691" cy="128739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宇航员在太空中穿着特制的辐射防护服，以减少辐射暴露对身体的危害。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6667" b="16667"/>
          <a:stretch>
            <a:fillRect/>
          </a:stretch>
        </p:blipFill>
        <p:spPr>
          <a:xfrm>
            <a:off x="1632387" y="1536628"/>
            <a:ext cx="1898907" cy="1898907"/>
          </a:xfrm>
          <a:prstGeom prst="ellipse"/>
        </p:spPr>
      </p:pic>
      <p:sp>
        <p:nvSpPr>
          <p:cNvPr id="6" name="AutoShape 6"/>
          <p:cNvSpPr/>
          <p:nvPr/>
        </p:nvSpPr>
        <p:spPr>
          <a:xfrm rot="-3859086" flipV="1">
            <a:off x="5041284" y="1457221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2">
              <a:alpha val="100000"/>
            </a:schemeClr>
          </a:solid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26563" r="26563"/>
          <a:stretch>
            <a:fillRect/>
          </a:stretch>
        </p:blipFill>
        <p:spPr>
          <a:xfrm>
            <a:off x="5146546" y="1536628"/>
            <a:ext cx="1898907" cy="1898907"/>
          </a:xfrm>
          <a:prstGeom prst="ellipse"/>
        </p:spPr>
      </p:pic>
      <p:sp>
        <p:nvSpPr>
          <p:cNvPr id="8" name="AutoShape 8"/>
          <p:cNvSpPr/>
          <p:nvPr/>
        </p:nvSpPr>
        <p:spPr>
          <a:xfrm rot="-3859086" flipV="1">
            <a:off x="8711366" y="1419290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1">
              <a:alpha val="100000"/>
            </a:schemeClr>
          </a:soli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21875" r="21875"/>
          <a:stretch>
            <a:fillRect/>
          </a:stretch>
        </p:blipFill>
        <p:spPr>
          <a:xfrm>
            <a:off x="8816628" y="1536628"/>
            <a:ext cx="1898907" cy="1898907"/>
          </a:xfrm>
          <a:prstGeom prst="ellipse"/>
        </p:spPr>
      </p:pic>
      <p:sp>
        <p:nvSpPr>
          <p:cNvPr id="10" name="TextBox 10"/>
          <p:cNvSpPr txBox="1"/>
          <p:nvPr/>
        </p:nvSpPr>
        <p:spPr>
          <a:xfrm>
            <a:off x="1238761" y="3746205"/>
            <a:ext cx="2971800" cy="4953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辐射防护服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235229" y="4350852"/>
            <a:ext cx="97536" cy="97536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3788775" y="4350852"/>
            <a:ext cx="97536" cy="97536"/>
          </a:xfrm>
          <a:prstGeom prst="ellipse"/>
          <a:solidFill>
            <a:schemeClr val="accent1">
              <a:alpha val="100000"/>
            </a:schemeClr>
          </a:solidFill>
        </p:spPr>
      </p:sp>
      <p:cxnSp>
        <p:nvCxnSpPr>
          <p:cNvPr id="13" name="Connector 13"/>
          <p:cNvCxnSpPr/>
          <p:nvPr/>
        </p:nvCxnSpPr>
        <p:spPr>
          <a:xfrm flipV="1">
            <a:off x="4700847" y="4399620"/>
            <a:ext cx="2492359" cy="4740"/>
          </a:xfrm>
          <a:prstGeom prst="line"/>
          <a:ln w="9525">
            <a:solidFill>
              <a:schemeClr val="accent2"/>
            </a:solidFill>
            <a:prstDash val="solid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4" name="TextBox 14"/>
          <p:cNvSpPr txBox="1"/>
          <p:nvPr/>
        </p:nvSpPr>
        <p:spPr>
          <a:xfrm>
            <a:off x="4742516" y="4590395"/>
            <a:ext cx="2450691" cy="128739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宇航员和航天器都配备有辐射监测设备，实时监测和评估辐射水平，确保安全。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43192" y="3746205"/>
            <a:ext cx="2952750" cy="4953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辐射监测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639660" y="4350852"/>
            <a:ext cx="97536" cy="97536"/>
          </a:xfrm>
          <a:prstGeom prst="ellipse"/>
          <a:solidFill>
            <a:schemeClr val="accen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7193207" y="4350852"/>
            <a:ext cx="97536" cy="97536"/>
          </a:xfrm>
          <a:prstGeom prst="ellipse"/>
          <a:solidFill>
            <a:schemeClr val="accent2">
              <a:alpha val="100000"/>
            </a:schemeClr>
          </a:solidFill>
        </p:spPr>
      </p:sp>
      <p:cxnSp>
        <p:nvCxnSpPr>
          <p:cNvPr id="18" name="Connector 18"/>
          <p:cNvCxnSpPr/>
          <p:nvPr/>
        </p:nvCxnSpPr>
        <p:spPr>
          <a:xfrm flipV="1">
            <a:off x="8370929" y="4399620"/>
            <a:ext cx="2492359" cy="4740"/>
          </a:xfrm>
          <a:prstGeom prst="line"/>
          <a:ln w="9525">
            <a:solidFill>
              <a:schemeClr val="accent1"/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9"/>
          <p:cNvSpPr txBox="1"/>
          <p:nvPr/>
        </p:nvSpPr>
        <p:spPr>
          <a:xfrm>
            <a:off x="8412597" y="4590395"/>
            <a:ext cx="2450691" cy="128739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宇航员在执行任务时，会避开高辐射区域，以减少辐射暴露。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13274" y="3746205"/>
            <a:ext cx="3019425" cy="495300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避免高辐射区域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309741" y="4350852"/>
            <a:ext cx="97536" cy="97536"/>
          </a:xfrm>
          <a:prstGeom prst="ellipse"/>
          <a:solidFill>
            <a:schemeClr val="accent1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10863288" y="4350852"/>
            <a:ext cx="97536" cy="97536"/>
          </a:xfrm>
          <a:prstGeom prst="ellipse"/>
          <a:solidFill>
            <a:schemeClr val="accent1">
              <a:alpha val="100000"/>
            </a:schemeClr>
          </a:solidFill>
        </p:spPr>
      </p:sp>
      <p:grpSp>
        <p:nvGrpSpPr>
          <p:cNvPr id="23" name="Group 23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4" name="AutoShape 24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太空辐射防护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2796" y="3116804"/>
            <a:ext cx="5783287" cy="1160526"/>
            <a:chOff x="5982796" y="3116804"/>
            <a:chExt cx="5783287" cy="1160526"/>
          </a:xfrm>
        </p:grpSpPr>
        <p:sp>
          <p:nvSpPr>
            <p:cNvPr id="3" name="TextBox 3"/>
            <p:cNvSpPr txBox="1"/>
            <p:nvPr/>
          </p:nvSpPr>
          <p:spPr>
            <a:xfrm>
              <a:off x="5982796" y="3116804"/>
              <a:ext cx="4521094" cy="398526"/>
            </a:xfrm>
            <a:prstGeom prst="rect"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药物治疗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2796" y="3575147"/>
              <a:ext cx="5783287" cy="702183"/>
            </a:xfrm>
            <a:prstGeom prst="rect"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宇航员在太空中如果出现太空病症状，会接受药物治疗，如抗晕眩药物和止吐药物。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82796" y="4769459"/>
            <a:ext cx="5783287" cy="1160526"/>
            <a:chOff x="5982796" y="4769459"/>
            <a:chExt cx="5783287" cy="1160526"/>
          </a:xfrm>
        </p:grpSpPr>
        <p:sp>
          <p:nvSpPr>
            <p:cNvPr id="6" name="TextBox 6"/>
            <p:cNvSpPr txBox="1"/>
            <p:nvPr/>
          </p:nvSpPr>
          <p:spPr>
            <a:xfrm>
              <a:off x="5982796" y="4769459"/>
              <a:ext cx="4521094" cy="398526"/>
            </a:xfrm>
            <a:prstGeom prst="rect"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健康管理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2796" y="5227802"/>
              <a:ext cx="5783287" cy="702183"/>
            </a:xfrm>
            <a:prstGeom prst="rect"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 dirty="1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宇航员在太空中会定期接受健康检查，及时发现和治疗潜在的健康问题。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82796" y="1468163"/>
            <a:ext cx="4521094" cy="398526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适应性训练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2796" y="1926506"/>
            <a:ext cx="5700871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宇航员在进入太空之前，会接受适应性训练，包括模拟失重环境和微重力环境，以减少太空病的发生。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3083" r="13083"/>
          <a:stretch>
            <a:fillRect/>
          </a:stretch>
        </p:blipFill>
        <p:spPr>
          <a:xfrm>
            <a:off x="869006" y="1293634"/>
            <a:ext cx="4563024" cy="4563025"/>
          </a:xfrm>
          <a:prstGeom prst="diamond"/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太空病预防与治疗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4711026" y="2347396"/>
            <a:ext cx="1779543" cy="859971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 rot="-5400000" flipV="1">
            <a:off x="5684402" y="2347396"/>
            <a:ext cx="1779543" cy="859971"/>
          </a:xfrm>
          <a:prstGeom prst="triangl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 rot="-5400000">
            <a:off x="4711026" y="4529840"/>
            <a:ext cx="1779543" cy="859971"/>
          </a:xfrm>
          <a:prstGeom prst="triangl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-5400000" flipV="1">
            <a:off x="5684402" y="4529840"/>
            <a:ext cx="1779543" cy="859971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5495750" y="2577289"/>
            <a:ext cx="459786" cy="400184"/>
          </a:xfrm>
          <a:custGeom>
            <a:rect l="l" t="t" r="r" b="b"/>
            <a:pathLst>
              <a:path w="304800" h="304800">
                <a:moveTo>
                  <a:pt x="257299" y="240773"/>
                </a:moveTo>
                <a:lnTo>
                  <a:pt x="257299" y="258156"/>
                </a:lnTo>
                <a:lnTo>
                  <a:pt x="47501" y="258156"/>
                </a:lnTo>
                <a:lnTo>
                  <a:pt x="47501" y="240773"/>
                </a:lnTo>
                <a:cubicBezTo>
                  <a:pt x="47501" y="240773"/>
                  <a:pt x="43015" y="231162"/>
                  <a:pt x="67361" y="208112"/>
                </a:cubicBezTo>
                <a:cubicBezTo>
                  <a:pt x="91688" y="185071"/>
                  <a:pt x="88487" y="125511"/>
                  <a:pt x="88487" y="85173"/>
                </a:cubicBezTo>
                <a:cubicBezTo>
                  <a:pt x="88487" y="44834"/>
                  <a:pt x="145142" y="43977"/>
                  <a:pt x="145142" y="43977"/>
                </a:cubicBezTo>
                <a:lnTo>
                  <a:pt x="147085" y="43977"/>
                </a:lnTo>
                <a:cubicBezTo>
                  <a:pt x="147085" y="43996"/>
                  <a:pt x="147085" y="43701"/>
                  <a:pt x="147085" y="37424"/>
                </a:cubicBezTo>
                <a:cubicBezTo>
                  <a:pt x="147085" y="33395"/>
                  <a:pt x="133560" y="18802"/>
                  <a:pt x="133560" y="18802"/>
                </a:cubicBezTo>
                <a:lnTo>
                  <a:pt x="133360" y="9973"/>
                </a:lnTo>
                <a:lnTo>
                  <a:pt x="171555" y="9973"/>
                </a:lnTo>
                <a:lnTo>
                  <a:pt x="171298" y="19136"/>
                </a:lnTo>
                <a:cubicBezTo>
                  <a:pt x="171298" y="19136"/>
                  <a:pt x="156639" y="33719"/>
                  <a:pt x="156639" y="38014"/>
                </a:cubicBezTo>
                <a:cubicBezTo>
                  <a:pt x="156639" y="42167"/>
                  <a:pt x="156639" y="43558"/>
                  <a:pt x="156639" y="43967"/>
                </a:cubicBezTo>
                <a:lnTo>
                  <a:pt x="159658" y="43967"/>
                </a:lnTo>
                <a:cubicBezTo>
                  <a:pt x="159658" y="43967"/>
                  <a:pt x="216313" y="44825"/>
                  <a:pt x="216313" y="85163"/>
                </a:cubicBezTo>
                <a:cubicBezTo>
                  <a:pt x="216313" y="125501"/>
                  <a:pt x="213112" y="185071"/>
                  <a:pt x="237449" y="208121"/>
                </a:cubicBezTo>
                <a:cubicBezTo>
                  <a:pt x="261785" y="231172"/>
                  <a:pt x="257299" y="240773"/>
                  <a:pt x="257299" y="240773"/>
                </a:cubicBezTo>
                <a:close/>
                <a:moveTo>
                  <a:pt x="176327" y="267367"/>
                </a:moveTo>
                <a:cubicBezTo>
                  <a:pt x="176327" y="280559"/>
                  <a:pt x="165640" y="294827"/>
                  <a:pt x="152457" y="294827"/>
                </a:cubicBezTo>
                <a:cubicBezTo>
                  <a:pt x="139275" y="294827"/>
                  <a:pt x="128588" y="280559"/>
                  <a:pt x="128588" y="267367"/>
                </a:cubicBezTo>
                <a:cubicBezTo>
                  <a:pt x="128588" y="267662"/>
                  <a:pt x="176327" y="267062"/>
                  <a:pt x="176327" y="26736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7" name="Freeform 7"/>
          <p:cNvSpPr/>
          <p:nvPr/>
        </p:nvSpPr>
        <p:spPr>
          <a:xfrm>
            <a:off x="6304633" y="2609608"/>
            <a:ext cx="332068" cy="332068"/>
          </a:xfrm>
          <a:custGeom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8" name="Freeform 8"/>
          <p:cNvSpPr/>
          <p:nvPr/>
        </p:nvSpPr>
        <p:spPr>
          <a:xfrm>
            <a:off x="5539837" y="4784697"/>
            <a:ext cx="332068" cy="374641"/>
          </a:xfrm>
          <a:custGeom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9" name="Freeform 9"/>
          <p:cNvSpPr/>
          <p:nvPr/>
        </p:nvSpPr>
        <p:spPr>
          <a:xfrm>
            <a:off x="6304633" y="4786818"/>
            <a:ext cx="366126" cy="366126"/>
          </a:xfrm>
          <a:custGeom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0" name="TextBox 10"/>
          <p:cNvSpPr txBox="1"/>
          <p:nvPr/>
        </p:nvSpPr>
        <p:spPr>
          <a:xfrm>
            <a:off x="6840260" y="1887610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肌肉萎缩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24522" y="2426460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缺乏重力作用，肌肉得不到足够的锻炼和刺激，容易出现肌肉萎缩。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24522" y="4626496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长期处于封闭的太空环境中，可能引发焦虑、抑郁等心理问题。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0260" y="4070054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心理问题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6101" y="2444052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长期处于微重力环境下，骨骼得不到足够的压力刺激，容易出现骨质疏松。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1840" y="1887610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骨质疏松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6101" y="4626496"/>
            <a:ext cx="3905833" cy="702183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长期处于微重力环境可能对眼球产生影响，导致视力问题。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1840" y="4070054"/>
            <a:ext cx="4521094" cy="555879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 dirty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视力问题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9" name="AutoShape 19"/>
            <p:cNvSpPr/>
            <p:nvPr/>
          </p:nvSpPr>
          <p:spPr>
            <a:xfrm>
              <a:off x="454963" y="331168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575049" y="337743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689125" y="339460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799768" y="348430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904945" y="344297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454963" y="448942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575049" y="455517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689125" y="457233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799768" y="466203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904945" y="462070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454963" y="566715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575049" y="573291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689125" y="575007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799768" y="583977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904945" y="579844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454963" y="684489"/>
              <a:ext cx="84147" cy="84147"/>
            </a:xfrm>
            <a:prstGeom prst="ellipse"/>
            <a:solidFill>
              <a:schemeClr val="accent1">
                <a:alpha val="10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575049" y="691064"/>
              <a:ext cx="78137" cy="78137"/>
            </a:xfrm>
            <a:prstGeom prst="ellipse"/>
            <a:solidFill>
              <a:schemeClr val="accent1">
                <a:alpha val="8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689125" y="692781"/>
              <a:ext cx="74704" cy="74704"/>
            </a:xfrm>
            <a:prstGeom prst="ellipse"/>
            <a:solidFill>
              <a:schemeClr val="accent1">
                <a:alpha val="6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799768" y="701751"/>
              <a:ext cx="69238" cy="69238"/>
            </a:xfrm>
            <a:prstGeom prst="ellipse"/>
            <a:solidFill>
              <a:schemeClr val="accent1">
                <a:alpha val="4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904945" y="697618"/>
              <a:ext cx="65594" cy="65594"/>
            </a:xfrm>
            <a:prstGeom prst="ellipse"/>
            <a:solidFill>
              <a:schemeClr val="accent1">
                <a:alpha val="20000"/>
              </a:scheme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094842" y="93878"/>
              <a:ext cx="10001250" cy="914400"/>
            </a:xfrm>
            <a:prstGeom prst="rect"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 dirty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长期太空生活的健康风险</a:t>
              </a:r>
            </a:p>
          </p:txBody>
        </p:sp>
      </p:grp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8143" y="1970576"/>
            <a:ext cx="9938919" cy="1958035"/>
          </a:xfrm>
          <a:prstGeom prst="rect"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12300" b="1" dirty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THANKS。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AF5FF"/>
      </a:lt1>
      <a:dk2>
        <a:srgbClr val="062F00"/>
      </a:dk2>
      <a:lt2>
        <a:srgbClr val="FFFFFF"/>
      </a:lt2>
      <a:accent1>
        <a:srgbClr val="AF79DE"/>
      </a:accent1>
      <a:accent2>
        <a:srgbClr val="BC95E8"/>
      </a:accent2>
      <a:accent3>
        <a:srgbClr val="816BB7"/>
      </a:accent3>
      <a:accent4>
        <a:srgbClr val="618CD0"/>
      </a:accent4>
      <a:accent5>
        <a:srgbClr val="76A1E5"/>
      </a:accent5>
      <a:accent6>
        <a:srgbClr val="FEE08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Uigh" typeface="Microsoft Uighur"/>
        <a:font script="Beng" typeface="Vrinda"/>
        <a:font script="Thai" typeface="Angsana New"/>
        <a:font script="Mlym" typeface="Kartika"/>
        <a:font script="Yiii" typeface="Microsoft Yi Baiti"/>
        <a:font script="Cher" typeface="Plantagenet Cherokee"/>
        <a:font script="Orya" typeface="Kalinga"/>
        <a:font script="Gujr" typeface="Shruti"/>
        <a:font script="Viet" typeface="Times New Roman"/>
        <a:font script="Arab" typeface="Times New Roman"/>
        <a:font script="Hebr" typeface="Times New Roman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MoolBoran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ajorFont>
      <a:minorFont>
        <a:latin typeface="Calibri"/>
        <a:ea typeface=""/>
        <a:cs typeface=""/>
        <a:font script="Uigh" typeface="Microsoft Uighur"/>
        <a:font script="Beng" typeface="Vrinda"/>
        <a:font script="Thai" typeface="Cordia New"/>
        <a:font script="Mlym" typeface="Kartika"/>
        <a:font script="Yiii" typeface="Microsoft Yi Baiti"/>
        <a:font script="Cher" typeface="Plantagenet Cherokee"/>
        <a:font script="Orya" typeface="Kalinga"/>
        <a:font script="Gujr" typeface="Shruti"/>
        <a:font script="Viet" typeface="Arial"/>
        <a:font script="Arab" typeface="Arial"/>
        <a:font script="Hebr" typeface="Arial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DaunPenh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2006-08-16T00:00:00.0000000Z</dcterms:created>
  <dcterms:modified xsi:type="dcterms:W3CDTF">2024-01-20T05:33:18.4144790Z</dcterms:modified>
  <cp:revision>1</cp:revision>
</cp:coreProperties>
</file>